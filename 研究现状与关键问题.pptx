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9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74123" autoAdjust="0"/>
  </p:normalViewPr>
  <p:slideViewPr>
    <p:cSldViewPr snapToGrid="0">
      <p:cViewPr varScale="1">
        <p:scale>
          <a:sx n="81" d="100"/>
          <a:sy n="81" d="100"/>
        </p:scale>
        <p:origin x="9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1272F-1601-4D66-B292-610E1F17CAE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40EE5-3D0A-4DB5-A7CD-2C768E058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19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95A6C-E232-06B2-B5BE-956C713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157FEA-A3C8-26E9-CEB4-6352BF889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D4FC0-AF79-7B0A-2CF2-7B07F2CB7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当前方法各有优势，但没有把三件事同时做好：识别、分类、增量。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文本模型看得懂语义，但容易被热点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噪声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图方法更关注异常分数，不一定给稳定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类别输出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增量学习关注“不遗忘”，但在风险语料里还要解决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未知类拒识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因此本研究的核心是做一个统一框架，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兼顾准确性、稳定性和扩展性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4E7193-B406-947F-4006-02E19651D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023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当前方法各有优势，但没有把三件事同时做好：识别、分类、增量。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文本模型看得懂语义，但容易被热点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噪声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图方法更关注异常分数，不一定给稳定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类别输出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增量学习关注“不遗忘”，但在风险语料里还要解决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未知类拒识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因此本研究的核心是做一个统一框架，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兼顾准确性、稳定性和扩展性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3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C9A3-42EA-5762-48F1-6A7DC40C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4FC5E8-2F1F-10C5-BC97-249FEA53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C1F2B0-BBAC-0898-3A3E-207425086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当前方法各有优势，但没有把三件事同时做好：识别、分类、增量。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文本模型看得懂语义，但容易被热点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噪声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图方法更关注异常分数，不一定给稳定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类别输出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增量学习关注“不遗忘”，但在风险语料里还要解决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未知类拒识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因此本研究的核心是做一个统一框架，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兼顾准确性、稳定性和扩展性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829036-4E65-3FCF-87E9-A49FDE6F4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5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6AF7-2C4C-6269-4197-7200DBA9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6DF442-3526-532C-4BF8-612C975E9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E8178E-8C8D-1175-DCD0-26595895E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当前方法各有优势，但没有把三件事同时做好：识别、分类、增量。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文本模型看得懂语义，但容易被热点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噪声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图方法更关注异常分数，不一定给稳定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类别输出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增量学习关注“不遗忘”，但在风险语料里还要解决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未知类拒识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因此本研究的核心是做一个统一框架，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兼顾准确性、稳定性和扩展性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A6AB88-B64C-C2BB-F885-E7D6A118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053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方案不是推翻现有系统，而是可插拔增强。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双时间尺度是核心：短窗看即时波动，长窗看持续趋势。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对业务最关键的是“该拦的拦住，不该拦的少误报”，所以加入开放集拒识。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新类别到来时，只需扩展分类头并做小步更新，减少训练成本和上线风险。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这个路线兼顾前沿性与工程可靠性。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096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数据分两层：风险语料验证任务有效性，增量数据验证机制稳健性。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协议强调“真实难度”：时间漂移、类别新增、未知类混入。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指标也分三层：识别能力、分类能力、增量与开放集能力。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若能同时提升这三层，就说明方法不仅“分数更高”，而是“系统更可用”。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预期贡献是把一次性判别升级为可持续的风险识别与分类体系。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40EE5-3D0A-4DB5-A7CD-2C768E058E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59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06679-EC4B-4B5C-C594-A4A858416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CC3A6B-FFB2-731C-D45E-7166A4586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4D937-4101-58DC-87BC-3B1AFA9F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BE14BA-2AE3-E105-0016-DD901AFD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6471E-2D25-D5D4-FB14-304151C5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57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709EC-F7CA-CBEF-5D99-6E5F543D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413392-730B-FDB6-D843-DEC43502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CE9C6-275A-D00B-B13C-9208115F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79CE1-FB44-EC95-A891-F076F07A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D0EF4B-B6C9-BF90-4E09-641BC1EC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0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75564-5405-B4C6-B405-108C69EA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30B07B-AB3D-671D-791B-E87D7A899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B3A58-C706-95D6-89FC-D1FF235A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D2F0E-CC9E-274D-A939-738F3F0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62E65C-1E11-C151-8123-5A55E50D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52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5595E-C6F6-C5CF-AC13-062EE3EE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985F4-E609-FAAD-B570-D1C1295C4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EA6488-A161-E19B-EA28-7DC7FFB88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F00B18-D519-8131-A1F6-87127C05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0F58ED-B075-3BBF-1495-B9CD161C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89B6C6-CFF8-ABFD-28E5-11C03BDE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15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7096C-521C-08FB-8DD2-10CE3E1A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C23B14-D0F0-A665-09DD-0A61933F0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FBCCDA-FE77-35CC-C203-083AFFA92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2BE7AD-DF8D-DFCC-ED16-2948FB6D8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71750E-A935-4FDF-CD5E-9393F0723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DDEDA3-EE4B-F267-E354-711F5145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0C7F7-B2BA-82FE-046D-FE3879F7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D6C6FE-B942-1D84-031F-0C5CE71C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68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EB6E4-C9F2-EAA0-5FF4-65399735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DA5264-C06F-E212-7622-FA701EF9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D76238-2F23-DA15-F423-28AE91AB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8A1B6C-6DB4-4692-23C7-9C9F88D9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3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822DDA-AC4D-092F-3578-82574461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1F5CFF-B588-7711-1FC0-7BBF81D1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F06784-424A-8385-9EB2-2581F24D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01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70DA3-E10B-0350-6C66-168D5611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36A9A-7154-7B29-0D56-F85B4ED3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3451FE-EDBD-2E0F-65B5-8B1FE7E12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C7B22-B1E1-48E6-31E4-63E30AE5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42F3E3-46EE-C43F-5437-512758E4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84D323-BA43-7CDE-F0B1-AD8F84F3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92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77F87-8A1D-8BCF-CA19-D3193B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0B7C5B-E688-5638-2E38-F7C2C9F96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9A7A2C-97E4-9886-F497-AABE10D19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CFCE94-D42A-7596-9631-8AF23990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FDD5FC-E892-B56E-C23C-52A63381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F50E04-38C1-053F-464B-62087344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88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A6CFB-E53A-CDEF-A48E-3CCCDF5A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66ADC9-6B5B-1289-568D-CFDC6FD43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BEAFE-194D-73C0-7CEA-20B120AC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E418E-1C58-438A-D7FC-77036750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14D5F6-23DA-0835-C821-BA3FD976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93A8DB-202D-B35D-C37F-20D9C21A1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68EA1-0A99-8974-11F5-E914E957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48A72F-5FCF-ACA7-AC2E-17A0D39B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242B2-21C3-F731-08F4-0EE37894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4F5B2-D984-3B18-6895-E8D8200C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7F719A-FBA9-8329-5635-6778F93E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21667A-9803-A064-8D60-6CF3486D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B2647-E344-6DEE-DEB4-DBDA2BD9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E2137-AEFB-4E19-B61E-C52041AB9E81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29F74F-7E0B-6ADE-B1A3-A494F668A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416F2-2562-1BAB-344D-8A801E96F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C90B2-AB03-4931-9D71-997AF789BC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21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675C-F5DD-8BC8-D0C6-DB1A03BE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D4C875B-CC22-2435-6A45-383B68BD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研究现状与关键问题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C1FE5E8-7276-D31B-CC7F-6424C6F95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任务目标：对连续语料进行犯罪倾向识别与风险分类。</a:t>
            </a:r>
          </a:p>
          <a:p>
            <a:r>
              <a:rPr lang="en-US" altLang="zh-CN" dirty="0"/>
              <a:t>Key issue</a:t>
            </a:r>
            <a:r>
              <a:rPr lang="zh-CN" altLang="en-US" dirty="0"/>
              <a:t>：在开放世界语料流中，如何稳定完成风险识别与分类，并控制误报。 </a:t>
            </a:r>
            <a:endParaRPr lang="en-US" altLang="zh-CN" dirty="0"/>
          </a:p>
          <a:p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b="1" dirty="0"/>
              <a:t>在语料流中稳定识别风险、区分类别，并尽量不把短期噪声当成真正犯罪倾向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654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F4B4806-94D3-FCE1-3674-85342F28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研究现状与关键问题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A6B2EA-4553-5501-1859-50DDE6C16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72776"/>
              </p:ext>
            </p:extLst>
          </p:nvPr>
        </p:nvGraphicFramePr>
        <p:xfrm>
          <a:off x="11735" y="3499856"/>
          <a:ext cx="12180265" cy="1863422"/>
        </p:xfrm>
        <a:graphic>
          <a:graphicData uri="http://schemas.openxmlformats.org/drawingml/2006/table">
            <a:tbl>
              <a:tblPr/>
              <a:tblGrid>
                <a:gridCol w="352906">
                  <a:extLst>
                    <a:ext uri="{9D8B030D-6E8A-4147-A177-3AD203B41FA5}">
                      <a16:colId xmlns:a16="http://schemas.microsoft.com/office/drawing/2014/main" val="2644886432"/>
                    </a:ext>
                  </a:extLst>
                </a:gridCol>
                <a:gridCol w="3584621">
                  <a:extLst>
                    <a:ext uri="{9D8B030D-6E8A-4147-A177-3AD203B41FA5}">
                      <a16:colId xmlns:a16="http://schemas.microsoft.com/office/drawing/2014/main" val="2380061540"/>
                    </a:ext>
                  </a:extLst>
                </a:gridCol>
                <a:gridCol w="804041">
                  <a:extLst>
                    <a:ext uri="{9D8B030D-6E8A-4147-A177-3AD203B41FA5}">
                      <a16:colId xmlns:a16="http://schemas.microsoft.com/office/drawing/2014/main" val="198677314"/>
                    </a:ext>
                  </a:extLst>
                </a:gridCol>
                <a:gridCol w="2940269">
                  <a:extLst>
                    <a:ext uri="{9D8B030D-6E8A-4147-A177-3AD203B41FA5}">
                      <a16:colId xmlns:a16="http://schemas.microsoft.com/office/drawing/2014/main" val="4135908612"/>
                    </a:ext>
                  </a:extLst>
                </a:gridCol>
                <a:gridCol w="4498428">
                  <a:extLst>
                    <a:ext uri="{9D8B030D-6E8A-4147-A177-3AD203B41FA5}">
                      <a16:colId xmlns:a16="http://schemas.microsoft.com/office/drawing/2014/main" val="2255164808"/>
                    </a:ext>
                  </a:extLst>
                </a:gridCol>
              </a:tblGrid>
              <a:tr h="109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title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authors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key issue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312940"/>
                  </a:ext>
                </a:extLst>
              </a:tr>
              <a:tr h="863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LLM Performance Predictors: Learning When to Escalate in Hybrid Human-AI Moderation Systems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2026/1/11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Or Bachar; Or Levi;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Sardhendu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Mishra; Adi Levi; Manpreet Singh Minhas; Justin Miller; Omer Ben-Porat; Eilon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Sheetrit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; Jonathan Morra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 hybrid moderation, the central challenge is uncertainty-aware escalation: deciding when to trust model outputs and when to defer to humans under explicit accuracy-cost trade-offs.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920204"/>
                  </a:ext>
                </a:extLst>
              </a:tr>
              <a:tr h="366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Learning to Defer in Content Moderation: The Human-AI Interplay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2024/2/19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Thodoris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Lykouris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; Wentao Weng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Classical defer assumes fixed review cost and immediate feedback; the key challenge is jointly optimizing classify/admit/schedule decisions under queue congestion and delayed feedback.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277600"/>
                  </a:ext>
                </a:extLst>
              </a:tr>
            </a:tbl>
          </a:graphicData>
        </a:graphic>
      </p:graphicFrame>
      <p:sp>
        <p:nvSpPr>
          <p:cNvPr id="2" name="内容占位符 4">
            <a:extLst>
              <a:ext uri="{FF2B5EF4-FFF2-40B4-BE49-F238E27FC236}">
                <a16:creationId xmlns:a16="http://schemas.microsoft.com/office/drawing/2014/main" id="{DEE08258-A44E-9AAF-CC12-480088F08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87"/>
            <a:ext cx="10515600" cy="4351338"/>
          </a:xfrm>
        </p:spPr>
        <p:txBody>
          <a:bodyPr/>
          <a:lstStyle/>
          <a:p>
            <a:r>
              <a:rPr lang="zh-CN" altLang="en-US" dirty="0"/>
              <a:t>不确定性与人机协同审核</a:t>
            </a:r>
            <a:endParaRPr lang="en-US" altLang="zh-CN" dirty="0"/>
          </a:p>
          <a:p>
            <a:r>
              <a:rPr lang="en-US" altLang="zh-CN" dirty="0"/>
              <a:t>LPP</a:t>
            </a:r>
            <a:r>
              <a:rPr lang="zh-CN" altLang="en-US" dirty="0"/>
              <a:t>强调“什么时候该升级人工”</a:t>
            </a:r>
            <a:endParaRPr lang="en-US" altLang="zh-CN" dirty="0"/>
          </a:p>
          <a:p>
            <a:r>
              <a:rPr lang="en-US" altLang="zh-CN" dirty="0"/>
              <a:t>Learning to Defer</a:t>
            </a:r>
            <a:r>
              <a:rPr lang="zh-CN" altLang="en-US" dirty="0"/>
              <a:t>强调“在审核资源受限下如何做最优分流”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3EBBCFB-0554-635F-593B-0A7DA333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880211"/>
              </p:ext>
            </p:extLst>
          </p:nvPr>
        </p:nvGraphicFramePr>
        <p:xfrm>
          <a:off x="0" y="5422088"/>
          <a:ext cx="12203734" cy="1435912"/>
        </p:xfrm>
        <a:graphic>
          <a:graphicData uri="http://schemas.openxmlformats.org/drawingml/2006/table">
            <a:tbl>
              <a:tblPr/>
              <a:tblGrid>
                <a:gridCol w="303834">
                  <a:extLst>
                    <a:ext uri="{9D8B030D-6E8A-4147-A177-3AD203B41FA5}">
                      <a16:colId xmlns:a16="http://schemas.microsoft.com/office/drawing/2014/main" val="3393545589"/>
                    </a:ext>
                  </a:extLst>
                </a:gridCol>
                <a:gridCol w="1359428">
                  <a:extLst>
                    <a:ext uri="{9D8B030D-6E8A-4147-A177-3AD203B41FA5}">
                      <a16:colId xmlns:a16="http://schemas.microsoft.com/office/drawing/2014/main" val="3312813264"/>
                    </a:ext>
                  </a:extLst>
                </a:gridCol>
                <a:gridCol w="2262352">
                  <a:extLst>
                    <a:ext uri="{9D8B030D-6E8A-4147-A177-3AD203B41FA5}">
                      <a16:colId xmlns:a16="http://schemas.microsoft.com/office/drawing/2014/main" val="1712149939"/>
                    </a:ext>
                  </a:extLst>
                </a:gridCol>
                <a:gridCol w="2857410">
                  <a:extLst>
                    <a:ext uri="{9D8B030D-6E8A-4147-A177-3AD203B41FA5}">
                      <a16:colId xmlns:a16="http://schemas.microsoft.com/office/drawing/2014/main" val="174794849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597749932"/>
                    </a:ext>
                  </a:extLst>
                </a:gridCol>
                <a:gridCol w="3134710">
                  <a:extLst>
                    <a:ext uri="{9D8B030D-6E8A-4147-A177-3AD203B41FA5}">
                      <a16:colId xmlns:a16="http://schemas.microsoft.com/office/drawing/2014/main" val="2916482596"/>
                    </a:ext>
                  </a:extLst>
                </a:gridCol>
              </a:tblGrid>
              <a:tr h="23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technology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backbone/framework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dataset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evaluation metrics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future look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05783"/>
                  </a:ext>
                </a:extLst>
              </a:tr>
              <a:tr h="4329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LLM/Foundation model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LPP meta-model for uncertainty-aware escalation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Multimodal and multilingual moderation benchmarks (paper-specific)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Accuracy-cost trade-off; selective classification/escalation quality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Cost-aware human-AI moderation and uncertainty calibration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095447"/>
                  </a:ext>
                </a:extLst>
              </a:tr>
              <a:tr h="4329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Anomaly/intent learning methods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Learning-to-defer with contextual queueing and delayed feedback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Contextual moderation queueing simulations / semi-synthetic streams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Regret/loss under defer-scheduling constraints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Defer policies with congestion-aware human review allocation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83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00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8A8E-9D32-AA41-CAD0-897451E5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300BCB4-C9C4-F1AC-8E16-C51B410E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研究现状与关键问题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643A248-6CF4-91E6-871D-59E3F6AF4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397"/>
            <a:ext cx="10515600" cy="4351338"/>
          </a:xfrm>
        </p:spPr>
        <p:txBody>
          <a:bodyPr/>
          <a:lstStyle/>
          <a:p>
            <a:r>
              <a:rPr lang="zh-CN" altLang="en-US" dirty="0"/>
              <a:t>开放世界意图发现</a:t>
            </a:r>
            <a:endParaRPr lang="en-US" altLang="zh-CN" dirty="0"/>
          </a:p>
          <a:p>
            <a:r>
              <a:rPr lang="zh-CN" altLang="en-US" dirty="0"/>
              <a:t>未知风险发现（</a:t>
            </a:r>
            <a:r>
              <a:rPr lang="en-US" altLang="zh-CN" dirty="0"/>
              <a:t>Open-set</a:t>
            </a:r>
            <a:r>
              <a:rPr lang="zh-CN" altLang="en-US" dirty="0"/>
              <a:t>）、类增量更新（</a:t>
            </a:r>
            <a:r>
              <a:rPr lang="en-US" altLang="zh-CN" dirty="0"/>
              <a:t>Class-incremental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CGID</a:t>
            </a:r>
            <a:r>
              <a:rPr lang="zh-CN" altLang="en-US" dirty="0"/>
              <a:t> 动态流式新增意图的任务范式；</a:t>
            </a:r>
            <a:endParaRPr lang="en-US" altLang="zh-CN" dirty="0"/>
          </a:p>
          <a:p>
            <a:r>
              <a:rPr lang="en-US" altLang="zh-CN" dirty="0" err="1"/>
              <a:t>IntentGPT</a:t>
            </a:r>
            <a:r>
              <a:rPr lang="zh-CN" altLang="en-US" dirty="0"/>
              <a:t> 低标注成本 </a:t>
            </a:r>
            <a:r>
              <a:rPr lang="en-US" altLang="zh-CN" dirty="0"/>
              <a:t>few-shot </a:t>
            </a:r>
            <a:r>
              <a:rPr lang="zh-CN" altLang="en-US" dirty="0"/>
              <a:t>新意图发现路径</a:t>
            </a:r>
          </a:p>
          <a:p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F71F76-E837-9D0A-260B-078E1531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1541"/>
              </p:ext>
            </p:extLst>
          </p:nvPr>
        </p:nvGraphicFramePr>
        <p:xfrm>
          <a:off x="0" y="3900927"/>
          <a:ext cx="12192000" cy="1379676"/>
        </p:xfrm>
        <a:graphic>
          <a:graphicData uri="http://schemas.openxmlformats.org/drawingml/2006/table">
            <a:tbl>
              <a:tblPr/>
              <a:tblGrid>
                <a:gridCol w="306006">
                  <a:extLst>
                    <a:ext uri="{9D8B030D-6E8A-4147-A177-3AD203B41FA5}">
                      <a16:colId xmlns:a16="http://schemas.microsoft.com/office/drawing/2014/main" val="161227187"/>
                    </a:ext>
                  </a:extLst>
                </a:gridCol>
                <a:gridCol w="3370436">
                  <a:extLst>
                    <a:ext uri="{9D8B030D-6E8A-4147-A177-3AD203B41FA5}">
                      <a16:colId xmlns:a16="http://schemas.microsoft.com/office/drawing/2014/main" val="2380061540"/>
                    </a:ext>
                  </a:extLst>
                </a:gridCol>
                <a:gridCol w="1014191">
                  <a:extLst>
                    <a:ext uri="{9D8B030D-6E8A-4147-A177-3AD203B41FA5}">
                      <a16:colId xmlns:a16="http://schemas.microsoft.com/office/drawing/2014/main" val="198677314"/>
                    </a:ext>
                  </a:extLst>
                </a:gridCol>
                <a:gridCol w="3240467">
                  <a:extLst>
                    <a:ext uri="{9D8B030D-6E8A-4147-A177-3AD203B41FA5}">
                      <a16:colId xmlns:a16="http://schemas.microsoft.com/office/drawing/2014/main" val="4135908612"/>
                    </a:ext>
                  </a:extLst>
                </a:gridCol>
                <a:gridCol w="4260900">
                  <a:extLst>
                    <a:ext uri="{9D8B030D-6E8A-4147-A177-3AD203B41FA5}">
                      <a16:colId xmlns:a16="http://schemas.microsoft.com/office/drawing/2014/main" val="2255164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title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authors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key issue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312940"/>
                  </a:ext>
                </a:extLst>
              </a:tr>
              <a:tr h="571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IntentGPT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: Few-shot Intent Discovery with Large Language Models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2024/11/16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Juan A. Rodriguez; Nicholas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Botzer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; David Vazquez; Christopher Pal; Marco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Pedersoli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; Issam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Laradji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Most intent discovery approaches need substantial labeled data or fine-tuning; the key challenge is discovering emerging intents in few-shot and training-light settings.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155470"/>
                  </a:ext>
                </a:extLst>
              </a:tr>
              <a:tr h="571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Continual Generalized Intent Discovery: Marching Towards Dynamic and Open-world Intent Recognition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2023/10/16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Xiaoshuai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Song;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Yutao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Mou;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Keqing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He;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Yueyan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Qiu; Pei Wang; Weiran Xu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Existing GID pipelines rely on joint training over historical OOD stages; the core challenge is continual open-world intent discovery with little access to past data.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15981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FD0C6B2-C5A2-4FEE-A496-DA2F3052F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582626"/>
              </p:ext>
            </p:extLst>
          </p:nvPr>
        </p:nvGraphicFramePr>
        <p:xfrm>
          <a:off x="0" y="5490617"/>
          <a:ext cx="12228413" cy="1270750"/>
        </p:xfrm>
        <a:graphic>
          <a:graphicData uri="http://schemas.openxmlformats.org/drawingml/2006/table">
            <a:tbl>
              <a:tblPr/>
              <a:tblGrid>
                <a:gridCol w="268014">
                  <a:extLst>
                    <a:ext uri="{9D8B030D-6E8A-4147-A177-3AD203B41FA5}">
                      <a16:colId xmlns:a16="http://schemas.microsoft.com/office/drawing/2014/main" val="6861518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22986353"/>
                    </a:ext>
                  </a:extLst>
                </a:gridCol>
                <a:gridCol w="1757855">
                  <a:extLst>
                    <a:ext uri="{9D8B030D-6E8A-4147-A177-3AD203B41FA5}">
                      <a16:colId xmlns:a16="http://schemas.microsoft.com/office/drawing/2014/main" val="2502815784"/>
                    </a:ext>
                  </a:extLst>
                </a:gridCol>
                <a:gridCol w="3153103">
                  <a:extLst>
                    <a:ext uri="{9D8B030D-6E8A-4147-A177-3AD203B41FA5}">
                      <a16:colId xmlns:a16="http://schemas.microsoft.com/office/drawing/2014/main" val="423400378"/>
                    </a:ext>
                  </a:extLst>
                </a:gridCol>
                <a:gridCol w="2136228">
                  <a:extLst>
                    <a:ext uri="{9D8B030D-6E8A-4147-A177-3AD203B41FA5}">
                      <a16:colId xmlns:a16="http://schemas.microsoft.com/office/drawing/2014/main" val="938278341"/>
                    </a:ext>
                  </a:extLst>
                </a:gridCol>
                <a:gridCol w="3313013">
                  <a:extLst>
                    <a:ext uri="{9D8B030D-6E8A-4147-A177-3AD203B41FA5}">
                      <a16:colId xmlns:a16="http://schemas.microsoft.com/office/drawing/2014/main" val="2853014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NO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technology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framework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dataset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evaluation metrics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future look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109253"/>
                  </a:ext>
                </a:extLst>
              </a:tr>
              <a:tr h="65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LLM/Foundation model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In-context prompting with LLM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CLINC150; BANKING77 (and related intent discovery benchmarks)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Few-shot intent discovery performance (ACC/NMI/ARI)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Cost-aware human-AI moderation and uncertainty calibration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157641"/>
                  </a:ext>
                </a:extLst>
              </a:tr>
              <a:tr h="1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Continual learning (replay/distillation)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Prototype-guided replay + distillation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CLINC150; BANKING77;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StackOverflow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(intent discovery benchmarks)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ACC; NMI; ARI; Forgetting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Open-world unknown intent/risk discovery and deployment in dynamic streams</a:t>
                      </a:r>
                    </a:p>
                  </a:txBody>
                  <a:tcPr marL="2692" marR="2692" marT="2692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8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51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D5D4-735C-F71D-2B82-CE218010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4F1124B-42B8-69AB-B080-6CD89830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研究现状与关键问题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7C69340-EECB-DFB2-B164-6B3418FF1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212" y="1526080"/>
            <a:ext cx="10515600" cy="4351338"/>
          </a:xfrm>
        </p:spPr>
        <p:txBody>
          <a:bodyPr/>
          <a:lstStyle/>
          <a:p>
            <a:r>
              <a:rPr lang="zh-CN" altLang="en-US" dirty="0"/>
              <a:t>持续学习抗遗忘</a:t>
            </a:r>
            <a:endParaRPr lang="en-US" altLang="zh-CN" dirty="0"/>
          </a:p>
          <a:p>
            <a:r>
              <a:rPr lang="en-US" altLang="zh-CN" dirty="0" err="1"/>
              <a:t>GeRe</a:t>
            </a:r>
            <a:r>
              <a:rPr lang="zh-CN" altLang="en-US" dirty="0"/>
              <a:t> 通用样本回放反遗忘</a:t>
            </a:r>
            <a:endParaRPr lang="en-US" altLang="zh-CN" dirty="0"/>
          </a:p>
          <a:p>
            <a:r>
              <a:rPr lang="en-US" altLang="zh-CN" dirty="0"/>
              <a:t>Lifelong Pretraining</a:t>
            </a:r>
            <a:r>
              <a:rPr lang="zh-CN" altLang="en-US" dirty="0"/>
              <a:t>随时间语料持续适配</a:t>
            </a:r>
          </a:p>
          <a:p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241CEA-C663-A1A0-A9A6-C3B7C9DB4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123104"/>
              </p:ext>
            </p:extLst>
          </p:nvPr>
        </p:nvGraphicFramePr>
        <p:xfrm>
          <a:off x="7987" y="3119510"/>
          <a:ext cx="12184014" cy="1630832"/>
        </p:xfrm>
        <a:graphic>
          <a:graphicData uri="http://schemas.openxmlformats.org/drawingml/2006/table">
            <a:tbl>
              <a:tblPr/>
              <a:tblGrid>
                <a:gridCol w="283117">
                  <a:extLst>
                    <a:ext uri="{9D8B030D-6E8A-4147-A177-3AD203B41FA5}">
                      <a16:colId xmlns:a16="http://schemas.microsoft.com/office/drawing/2014/main" val="161227187"/>
                    </a:ext>
                  </a:extLst>
                </a:gridCol>
                <a:gridCol w="3689689">
                  <a:extLst>
                    <a:ext uri="{9D8B030D-6E8A-4147-A177-3AD203B41FA5}">
                      <a16:colId xmlns:a16="http://schemas.microsoft.com/office/drawing/2014/main" val="2380061540"/>
                    </a:ext>
                  </a:extLst>
                </a:gridCol>
                <a:gridCol w="922283">
                  <a:extLst>
                    <a:ext uri="{9D8B030D-6E8A-4147-A177-3AD203B41FA5}">
                      <a16:colId xmlns:a16="http://schemas.microsoft.com/office/drawing/2014/main" val="198677314"/>
                    </a:ext>
                  </a:extLst>
                </a:gridCol>
                <a:gridCol w="3147084">
                  <a:extLst>
                    <a:ext uri="{9D8B030D-6E8A-4147-A177-3AD203B41FA5}">
                      <a16:colId xmlns:a16="http://schemas.microsoft.com/office/drawing/2014/main" val="4135908612"/>
                    </a:ext>
                  </a:extLst>
                </a:gridCol>
                <a:gridCol w="4141841">
                  <a:extLst>
                    <a:ext uri="{9D8B030D-6E8A-4147-A177-3AD203B41FA5}">
                      <a16:colId xmlns:a16="http://schemas.microsoft.com/office/drawing/2014/main" val="2255164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Title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authors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key issue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312940"/>
                  </a:ext>
                </a:extLst>
              </a:tr>
              <a:tr h="571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GeRe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: Towards Efficient Anti-Forgetting in Continual Learning of LLM via General Samples Replay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2025/8/6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Yunan Zhang; Shuoran Jiang;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Mengchen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Zhao;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Yuefeng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Li; Yang Fan;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Xiangping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Wu;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Qingcai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Chen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Continual LLM fine-tuning suffers dual forgetting (general capability + past tasks); the key challenge is efficient replay that preserves both with low overhead.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155470"/>
                  </a:ext>
                </a:extLst>
              </a:tr>
              <a:tr h="571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Lifelong Pretraining: Continually Adapting Language Models to Emerging Corpora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2021/10/16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Xisen Jin; Dejiao Zhang; Henghui Zhu; Wei Xiao; Shang-Wen Li; Xiaokai Wei; Andrew Arnold; Xiang Ren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PTLMs pretrained once on static corpora degrade under domain/time drift; the key challenge is continual pretraining that adapts to emerging corpora without catastrophic forgetting.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15981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D354FC7-70CD-2384-1477-026F536B0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33689"/>
              </p:ext>
            </p:extLst>
          </p:nvPr>
        </p:nvGraphicFramePr>
        <p:xfrm>
          <a:off x="0" y="5113844"/>
          <a:ext cx="12253285" cy="1744156"/>
        </p:xfrm>
        <a:graphic>
          <a:graphicData uri="http://schemas.openxmlformats.org/drawingml/2006/table">
            <a:tbl>
              <a:tblPr/>
              <a:tblGrid>
                <a:gridCol w="275897">
                  <a:extLst>
                    <a:ext uri="{9D8B030D-6E8A-4147-A177-3AD203B41FA5}">
                      <a16:colId xmlns:a16="http://schemas.microsoft.com/office/drawing/2014/main" val="2294562594"/>
                    </a:ext>
                  </a:extLst>
                </a:gridCol>
                <a:gridCol w="1882080">
                  <a:extLst>
                    <a:ext uri="{9D8B030D-6E8A-4147-A177-3AD203B41FA5}">
                      <a16:colId xmlns:a16="http://schemas.microsoft.com/office/drawing/2014/main" val="4023634436"/>
                    </a:ext>
                  </a:extLst>
                </a:gridCol>
                <a:gridCol w="2433744">
                  <a:extLst>
                    <a:ext uri="{9D8B030D-6E8A-4147-A177-3AD203B41FA5}">
                      <a16:colId xmlns:a16="http://schemas.microsoft.com/office/drawing/2014/main" val="3158342730"/>
                    </a:ext>
                  </a:extLst>
                </a:gridCol>
                <a:gridCol w="2391064">
                  <a:extLst>
                    <a:ext uri="{9D8B030D-6E8A-4147-A177-3AD203B41FA5}">
                      <a16:colId xmlns:a16="http://schemas.microsoft.com/office/drawing/2014/main" val="35297335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113728272"/>
                    </a:ext>
                  </a:extLst>
                </a:gridCol>
                <a:gridCol w="3136900">
                  <a:extLst>
                    <a:ext uri="{9D8B030D-6E8A-4147-A177-3AD203B41FA5}">
                      <a16:colId xmlns:a16="http://schemas.microsoft.com/office/drawing/2014/main" val="248385085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technology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framework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dataset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evaluation metrics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future look</a:t>
                      </a:r>
                    </a:p>
                  </a:txBody>
                  <a:tcPr marL="2692" marR="2692" marT="26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453190"/>
                  </a:ext>
                </a:extLst>
              </a:tr>
              <a:tr h="65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LLM/Foundation model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General sample replay + threshold-margin state consistency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Sequential multi-domain LLM continual learning tasks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General capability retention; previous-task performance; forgetting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Efficient anti-forgetting continual tuning for LLM safety adaptation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22830"/>
                  </a:ext>
                </a:extLst>
              </a:tr>
              <a:tr h="65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2692" marR="2692" marT="2692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Continual learning (replay/distillation)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Incremental PTLM pretraining with distillation-based retention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Domain-incremental research-paper stream; chronological tweet stream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Downstream performance over time; retention and transfer under temporal drift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Lifelong adaptation of language models to evolving corpora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24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02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29155-37C6-D4C8-7C79-DC9F26ABE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EB20FF8-F956-26A9-35C7-E3FE87C5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技术路线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3BE9D67-48F1-F7EE-9BFB-80873D31A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767263"/>
          </a:xfrm>
        </p:spPr>
        <p:txBody>
          <a:bodyPr>
            <a:normAutofit/>
          </a:bodyPr>
          <a:lstStyle/>
          <a:p>
            <a:r>
              <a:rPr lang="zh-CN" altLang="en-US" b="1" dirty="0"/>
              <a:t>双时标持续性校准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短窗统计关注最近一小段语料里是否出现了连续重复、风险词密度升高、相似表达聚集等现象；</a:t>
            </a:r>
            <a:endParaRPr lang="en-US" altLang="zh-CN" dirty="0"/>
          </a:p>
          <a:p>
            <a:pPr lvl="1"/>
            <a:r>
              <a:rPr lang="zh-CN" altLang="en-US" dirty="0"/>
              <a:t>长窗统计则关注这种模式是否在更长时间内持续存在。</a:t>
            </a:r>
          </a:p>
          <a:p>
            <a:r>
              <a:rPr lang="zh-CN" altLang="en-US" b="1" dirty="0"/>
              <a:t>开放集门控</a:t>
            </a:r>
            <a:r>
              <a:rPr lang="zh-CN" altLang="en-US" dirty="0"/>
              <a:t>：当样本与已知类别原型距离较远、分类置信度较低，或者不同类别预测分歧较大时，系统不强行给出某个已知类别，而是输出“未知风险”并进入人工复核。</a:t>
            </a:r>
          </a:p>
          <a:p>
            <a:r>
              <a:rPr lang="zh-CN" altLang="en-US" dirty="0"/>
              <a:t>使用类增量更新，使系统适应新类别。新类别出现时，扩展分类头，并保留少量旧类样本做回放</a:t>
            </a:r>
            <a:endParaRPr lang="en-US" altLang="zh-CN" dirty="0"/>
          </a:p>
          <a:p>
            <a:r>
              <a:rPr lang="zh-CN" altLang="en-US" dirty="0"/>
              <a:t>输出三类数据：风险识别分数、风险类别分布、未知风险概率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691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DBDB-C7B8-02F4-87B4-FBF14047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A501973-9659-BA6E-EF41-4F14B651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评测方案与数据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7360099-E401-FFF9-89D7-4B050D2B7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评测数据（主任务）：</a:t>
            </a:r>
            <a:r>
              <a:rPr lang="en-US" altLang="zh-CN" dirty="0"/>
              <a:t>Jigsaw Toxic</a:t>
            </a:r>
            <a:r>
              <a:rPr lang="zh-CN" altLang="en-US" dirty="0"/>
              <a:t>、</a:t>
            </a:r>
            <a:r>
              <a:rPr lang="en-US" altLang="zh-CN" dirty="0"/>
              <a:t>Civil Comments</a:t>
            </a:r>
            <a:r>
              <a:rPr lang="zh-CN" altLang="en-US" dirty="0"/>
              <a:t>、</a:t>
            </a:r>
            <a:r>
              <a:rPr lang="en-US" altLang="zh-CN" dirty="0" err="1"/>
              <a:t>HateXplain</a:t>
            </a:r>
            <a:r>
              <a:rPr lang="zh-CN" altLang="en-US" dirty="0"/>
              <a:t>、</a:t>
            </a:r>
            <a:r>
              <a:rPr lang="en-US" altLang="zh-CN" dirty="0"/>
              <a:t>OLID/HASOC</a:t>
            </a:r>
            <a:r>
              <a:rPr lang="zh-CN" altLang="en-US" dirty="0"/>
              <a:t>、</a:t>
            </a:r>
            <a:r>
              <a:rPr lang="en-US" altLang="zh-CN" dirty="0"/>
              <a:t>COLD</a:t>
            </a:r>
            <a:r>
              <a:rPr lang="zh-CN" altLang="en-US" dirty="0"/>
              <a:t>（中文）。</a:t>
            </a:r>
          </a:p>
          <a:p>
            <a:r>
              <a:rPr lang="zh-CN" altLang="en-US" dirty="0"/>
              <a:t>评测数据（增量机制验证）：</a:t>
            </a:r>
            <a:r>
              <a:rPr lang="en-US" altLang="zh-CN" dirty="0"/>
              <a:t>CLINC150</a:t>
            </a:r>
            <a:r>
              <a:rPr lang="zh-CN" altLang="en-US" dirty="0"/>
              <a:t>、</a:t>
            </a:r>
            <a:r>
              <a:rPr lang="en-US" altLang="zh-CN" dirty="0"/>
              <a:t>BANKING77</a:t>
            </a:r>
            <a:r>
              <a:rPr lang="zh-CN" altLang="en-US" dirty="0"/>
              <a:t>（用于类增量协议与遗忘评估）。</a:t>
            </a:r>
          </a:p>
          <a:p>
            <a:r>
              <a:rPr lang="zh-CN" altLang="en-US" dirty="0"/>
              <a:t>评测协议：时间切分 </a:t>
            </a:r>
            <a:r>
              <a:rPr lang="en-US" altLang="zh-CN" dirty="0"/>
              <a:t>+ 5</a:t>
            </a:r>
            <a:r>
              <a:rPr lang="zh-CN" altLang="en-US" dirty="0"/>
              <a:t>轮类增量 </a:t>
            </a:r>
            <a:r>
              <a:rPr lang="en-US" altLang="zh-CN" dirty="0"/>
              <a:t>+ </a:t>
            </a:r>
            <a:r>
              <a:rPr lang="zh-CN" altLang="en-US" dirty="0"/>
              <a:t>每轮保留未知类别做开放集测试。</a:t>
            </a:r>
          </a:p>
          <a:p>
            <a:r>
              <a:rPr lang="zh-CN" altLang="en-US" dirty="0"/>
              <a:t>对比基线：静态多标签分类、时间平滑、</a:t>
            </a:r>
            <a:r>
              <a:rPr lang="en-US" altLang="zh-CN" dirty="0"/>
              <a:t>EWC/</a:t>
            </a:r>
            <a:r>
              <a:rPr lang="en-US" altLang="zh-CN" dirty="0" err="1"/>
              <a:t>LwF</a:t>
            </a:r>
            <a:r>
              <a:rPr lang="en-US" altLang="zh-CN" dirty="0"/>
              <a:t>/Replay </a:t>
            </a:r>
            <a:r>
              <a:rPr lang="zh-CN" altLang="en-US" dirty="0"/>
              <a:t>增量方法。</a:t>
            </a:r>
          </a:p>
          <a:p>
            <a:r>
              <a:rPr lang="zh-CN" altLang="en-US" dirty="0"/>
              <a:t>指标体系：</a:t>
            </a:r>
            <a:r>
              <a:rPr lang="en-US" altLang="zh-CN" dirty="0"/>
              <a:t>AUPRC</a:t>
            </a:r>
            <a:r>
              <a:rPr lang="zh-CN" altLang="en-US" dirty="0"/>
              <a:t>、</a:t>
            </a:r>
            <a:r>
              <a:rPr lang="en-US" altLang="zh-CN" dirty="0"/>
              <a:t>Recall</a:t>
            </a:r>
            <a:r>
              <a:rPr lang="zh-CN" altLang="en-US" dirty="0"/>
              <a:t>、</a:t>
            </a:r>
            <a:r>
              <a:rPr lang="en-US" altLang="zh-CN" dirty="0"/>
              <a:t>False Alarm Rate</a:t>
            </a:r>
            <a:r>
              <a:rPr lang="zh-CN" altLang="en-US" dirty="0"/>
              <a:t>、</a:t>
            </a:r>
            <a:r>
              <a:rPr lang="en-US" altLang="zh-CN" dirty="0"/>
              <a:t>Macro-F1</a:t>
            </a:r>
            <a:r>
              <a:rPr lang="zh-CN" altLang="en-US" dirty="0"/>
              <a:t>、</a:t>
            </a:r>
            <a:r>
              <a:rPr lang="en-US" altLang="zh-CN" dirty="0"/>
              <a:t>Forgetting</a:t>
            </a:r>
            <a:r>
              <a:rPr lang="zh-CN" altLang="en-US" dirty="0"/>
              <a:t>、未知类</a:t>
            </a:r>
            <a:r>
              <a:rPr lang="en-US" altLang="zh-CN" dirty="0"/>
              <a:t>AUROC/FPR95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目标结果：误报下降、召回基本持平、分类更稳、未知风险可发现。</a:t>
            </a:r>
          </a:p>
        </p:txBody>
      </p:sp>
    </p:spTree>
    <p:extLst>
      <p:ext uri="{BB962C8B-B14F-4D97-AF65-F5344CB8AC3E}">
        <p14:creationId xmlns:p14="http://schemas.microsoft.com/office/powerpoint/2010/main" val="53573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1567</Words>
  <Application>Microsoft Office PowerPoint</Application>
  <PresentationFormat>宽屏</PresentationFormat>
  <Paragraphs>166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Wingdings</vt:lpstr>
      <vt:lpstr>Office 主题​​</vt:lpstr>
      <vt:lpstr>研究现状与关键问题</vt:lpstr>
      <vt:lpstr>研究现状与关键问题</vt:lpstr>
      <vt:lpstr>研究现状与关键问题</vt:lpstr>
      <vt:lpstr>研究现状与关键问题</vt:lpstr>
      <vt:lpstr>技术路线</vt:lpstr>
      <vt:lpstr>评测方案与数据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凯恩 彭</dc:creator>
  <cp:lastModifiedBy>凯恩 彭</cp:lastModifiedBy>
  <cp:revision>4</cp:revision>
  <dcterms:created xsi:type="dcterms:W3CDTF">2026-03-31T14:32:13Z</dcterms:created>
  <dcterms:modified xsi:type="dcterms:W3CDTF">2026-04-13T12:59:26Z</dcterms:modified>
</cp:coreProperties>
</file>