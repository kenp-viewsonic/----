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A0496-30BC-4DA5-65D1-98A7FB5D5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903818-5185-ADF9-E7FE-CE54D9F7D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87222D-F3E2-E9AC-922F-2AD276E6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1527D-E4F1-9D69-E6A5-C10F7DD0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CA5953-191A-A6EE-5525-8C9FAD53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91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ACDF9-0682-3AB8-EFA8-0400FB99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3895D3-7088-EA02-CAFA-5019FE345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7F70D-0511-7EEB-A513-EBEB98FD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3F9CD2-C8C9-372D-1727-C4E1362B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6E6AC9-12E8-71FC-5878-848D5C80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12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740E8-51E9-4F6A-4F1D-6679D61D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E92103-87B9-C670-740E-85B0B7181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37398-B7D5-74D8-D983-8F07B7EF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BFAD6-3345-B21B-5435-CEB258681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8BAE4-9B92-CDE1-E162-A7255725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39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096D4-6E57-6A81-CB13-EEE1818C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6AC98-1537-C692-0CD3-93DE81C60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9E6088-E993-496F-C67B-A8EA27C00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40DBE7-B9E9-0835-2111-C172B36D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91556D-FE2D-C34E-0A35-D9107837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9F8CDF-DF3D-0593-59A3-9257F164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70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D52120-B951-B5CC-9E80-8C232514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0B90B7-C6B5-D996-34A5-85BE8158D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F3A08A-3B22-DB8F-54F5-9D6EE6018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31D750-B69D-CB8F-7831-1F9902F70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F6A644-75DD-EBD5-D77F-CFFF0FCE0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0C5401-7E54-F604-23BE-15A752867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64254D-5C0D-F08C-B6E5-ACBA9E49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9AE3F8-A248-A1BA-5A38-6DA614AA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46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11930-624E-3237-7728-4ECFCE9C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F4E9E1-DA78-3B10-FDEF-AB2183A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44A8E4-119C-D332-707E-200A2CE8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DA1A80-43EC-851E-4407-0CDDC4CA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51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6D20E9-29F7-CBAF-74F5-CF7A8583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349410-B52D-BFC6-BDE8-8A75896F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1BE308-F806-88B2-70BB-0C46076D8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3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D8E2B-9021-E6AD-027D-251A2FAE3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37A494-8A31-3873-4C29-CAE650319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47D754-80A2-4EB2-F12B-14C9B7052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25469-D283-9009-41FD-F6999535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2451FA-8D53-DE85-3291-D6975809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2ABEFA-7299-3785-C9C9-41FD350B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117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B494A-862A-3D70-0106-45750B0C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8115B7-F2AC-25D7-2093-89A594B04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66EFAD-58EE-10C8-F7D8-BE391199C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0D5F3D-A95E-2F87-D69E-48500614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2BFB02-F29B-1575-B4A0-CC04A40D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7350EF-EB89-F9A9-A35E-451150F0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01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A7E27-F746-3276-7430-06ABACCD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5E5038-81D0-8E1B-A835-5F8BE5307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31929C-EE9D-440E-13C4-D83DC4C5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717409-70C4-B976-56E6-FF9961DC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3B3D7F-2548-53E6-E623-66B64B7F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69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10343B-4A39-B7C3-6E4D-A72B6D5031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AE558E-EC8F-37C4-C84C-16A4B56A6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49ABB-F209-DA16-345E-3D21312E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A458D3-0D29-E718-00F9-57A9C6FA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335CC-A4BE-F453-2C24-64A2BD5B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21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5227B7-5E4B-24E7-D1AA-A0ED1495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56640A-EADF-E6E8-4956-AEB5AAFCA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9D56AF-BB2B-D022-B314-7F036EB05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1AB1F-9330-47D4-9FDB-014FE1011AF6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D7A18D-087B-03C9-F7EA-ADDB41D6D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EAC0F5-B67A-80A4-62F1-8C7AA26C5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4AF3B-7BED-4BB4-BF23-497E7605D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99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CFFA2-ADA6-EB97-F5B5-F806748AAE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语料中犯罪意图识别与分类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075AA6-EC34-922B-AD9D-67E366B742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63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C8774-A360-1EA5-A1E0-1426B1659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FE14E-340A-90A6-5594-751956065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7903"/>
            <a:ext cx="12192000" cy="5349060"/>
          </a:xfrm>
        </p:spPr>
        <p:txBody>
          <a:bodyPr/>
          <a:lstStyle/>
          <a:p>
            <a:r>
              <a:rPr lang="zh-CN" altLang="en-US" b="1" dirty="0"/>
              <a:t>任务设定：有样本类增量学习（</a:t>
            </a:r>
            <a:r>
              <a:rPr lang="en-US" altLang="zh-CN" b="1" dirty="0"/>
              <a:t>FSCIL</a:t>
            </a:r>
            <a:r>
              <a:rPr lang="zh-CN" altLang="en-US" b="1" dirty="0"/>
              <a:t>）</a:t>
            </a:r>
            <a:r>
              <a:rPr lang="zh-CN" altLang="en-US" dirty="0"/>
              <a:t> 毒性评论识别与细粒度分类。</a:t>
            </a:r>
            <a:endParaRPr lang="en-US" altLang="zh-CN" dirty="0"/>
          </a:p>
          <a:p>
            <a:r>
              <a:rPr lang="en-US" altLang="zh-CN" b="1" dirty="0"/>
              <a:t>Key Issue:</a:t>
            </a:r>
          </a:p>
          <a:p>
            <a:r>
              <a:rPr lang="zh-CN" altLang="en-US" dirty="0"/>
              <a:t>毒性评论语料流中，标签与表达持续演化，如何实现</a:t>
            </a:r>
            <a:r>
              <a:rPr lang="zh-CN" altLang="en-US" b="1" dirty="0"/>
              <a:t>持续识别</a:t>
            </a:r>
            <a:r>
              <a:rPr lang="zh-CN" altLang="en-US" dirty="0"/>
              <a:t>并控制遗忘？</a:t>
            </a:r>
            <a:endParaRPr lang="en-US" altLang="zh-CN" dirty="0"/>
          </a:p>
          <a:p>
            <a:r>
              <a:rPr lang="zh-CN" altLang="en-US" dirty="0"/>
              <a:t>离散短评论条件下，如何增强对隐式毒性、反讽和群体偏置的</a:t>
            </a:r>
            <a:r>
              <a:rPr lang="zh-CN" altLang="en-US" b="1" dirty="0"/>
              <a:t>鲁棒建模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如何防止</a:t>
            </a:r>
            <a:r>
              <a:rPr lang="en-US" altLang="zh-CN" dirty="0"/>
              <a:t>/</a:t>
            </a:r>
            <a:r>
              <a:rPr lang="zh-CN" altLang="en-US" dirty="0"/>
              <a:t>减少未知毒性变体或</a:t>
            </a:r>
            <a:r>
              <a:rPr lang="zh-CN" altLang="en-US" b="1" dirty="0"/>
              <a:t>分布外</a:t>
            </a:r>
            <a:r>
              <a:rPr lang="en-US" altLang="zh-CN" b="1" dirty="0"/>
              <a:t>(OOD)</a:t>
            </a:r>
            <a:r>
              <a:rPr lang="zh-CN" altLang="en-US" dirty="0"/>
              <a:t>评论被误归入已知类？</a:t>
            </a:r>
          </a:p>
        </p:txBody>
      </p:sp>
    </p:spTree>
    <p:extLst>
      <p:ext uri="{BB962C8B-B14F-4D97-AF65-F5344CB8AC3E}">
        <p14:creationId xmlns:p14="http://schemas.microsoft.com/office/powerpoint/2010/main" val="182883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88F5E5-F3AF-2BBA-0C35-5D7ACB1BB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12192000" cy="6857999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Key Issue:</a:t>
            </a:r>
            <a:r>
              <a:rPr lang="zh-CN" altLang="en-US" sz="3200" b="1" dirty="0"/>
              <a:t> 持续识别</a:t>
            </a:r>
            <a:endParaRPr lang="en-US" altLang="zh-CN" sz="3200" b="1" dirty="0"/>
          </a:p>
          <a:p>
            <a:r>
              <a:rPr lang="en-US" altLang="zh-CN" sz="2200" b="1" dirty="0"/>
              <a:t>2021.04, Incremental Few-shot Text Classification with Multi-round New Classes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NAACL 2021</a:t>
            </a:r>
            <a:r>
              <a:rPr lang="zh-CN" altLang="en-US" sz="2200" b="1" dirty="0"/>
              <a:t>）</a:t>
            </a:r>
          </a:p>
          <a:p>
            <a:pPr lvl="1"/>
            <a:r>
              <a:rPr lang="zh-CN" altLang="en-US" sz="2000" dirty="0"/>
              <a:t>贡献：给出 </a:t>
            </a:r>
            <a:r>
              <a:rPr lang="en-US" altLang="zh-CN" sz="2000" dirty="0"/>
              <a:t>NLP </a:t>
            </a:r>
            <a:r>
              <a:rPr lang="zh-CN" altLang="en-US" sz="2000" dirty="0"/>
              <a:t>场景的</a:t>
            </a:r>
            <a:r>
              <a:rPr lang="zh-CN" altLang="en-US" sz="2000" i="1" u="sng" dirty="0"/>
              <a:t>增量少样本文本分类</a:t>
            </a:r>
            <a:r>
              <a:rPr lang="zh-CN" altLang="en-US" sz="2000" dirty="0"/>
              <a:t>设定与评测流程。</a:t>
            </a:r>
          </a:p>
          <a:p>
            <a:pPr lvl="1"/>
            <a:r>
              <a:rPr lang="zh-CN" altLang="en-US" sz="2000" dirty="0"/>
              <a:t>资产：提供 </a:t>
            </a:r>
            <a:r>
              <a:rPr lang="en-US" altLang="zh-CN" sz="2000" dirty="0"/>
              <a:t>IFS-Intent</a:t>
            </a:r>
            <a:r>
              <a:rPr lang="zh-CN" altLang="en-US" sz="2000" dirty="0"/>
              <a:t>（增量意图分类基准）与 </a:t>
            </a:r>
            <a:r>
              <a:rPr lang="en-US" altLang="zh-CN" sz="2000" dirty="0"/>
              <a:t>IFS-Relation</a:t>
            </a:r>
            <a:r>
              <a:rPr lang="zh-CN" altLang="en-US" sz="2000" dirty="0"/>
              <a:t>（增量关系分类基准），并给出 </a:t>
            </a:r>
            <a:r>
              <a:rPr lang="en-US" altLang="zh-CN" sz="2000" dirty="0" err="1"/>
              <a:t>ProtoNet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DyFewShot</a:t>
            </a:r>
            <a:r>
              <a:rPr lang="en-US" altLang="zh-CN" sz="2000" dirty="0"/>
              <a:t> </a:t>
            </a:r>
            <a:r>
              <a:rPr lang="zh-CN" altLang="en-US" sz="2000" dirty="0"/>
              <a:t>和 </a:t>
            </a:r>
            <a:r>
              <a:rPr lang="en-US" altLang="zh-CN" sz="2000" dirty="0"/>
              <a:t>entailment </a:t>
            </a:r>
            <a:r>
              <a:rPr lang="zh-CN" altLang="en-US" sz="2000" dirty="0"/>
              <a:t>式文本蕴含方法的对比。。</a:t>
            </a:r>
          </a:p>
          <a:p>
            <a:r>
              <a:rPr lang="en-US" altLang="zh-CN" sz="2200" b="1" dirty="0"/>
              <a:t>2026.01, ELLA: Efficient Lifelong Learning for Adapters in Large Language Models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EACL 2026 Main</a:t>
            </a:r>
            <a:r>
              <a:rPr lang="zh-CN" altLang="en-US" sz="2200" b="1" dirty="0"/>
              <a:t>）</a:t>
            </a:r>
          </a:p>
          <a:p>
            <a:pPr lvl="1"/>
            <a:r>
              <a:rPr lang="zh-CN" altLang="en-US" sz="2000" dirty="0"/>
              <a:t>贡献：在 </a:t>
            </a:r>
            <a:r>
              <a:rPr lang="en-US" altLang="zh-CN" sz="2000" dirty="0" err="1"/>
              <a:t>LoRA</a:t>
            </a:r>
            <a:r>
              <a:rPr lang="en-US" altLang="zh-CN" sz="2000" dirty="0"/>
              <a:t> </a:t>
            </a:r>
            <a:r>
              <a:rPr lang="zh-CN" altLang="en-US" sz="2000" dirty="0"/>
              <a:t>持续学习中通过</a:t>
            </a:r>
            <a:r>
              <a:rPr lang="zh-CN" altLang="en-US" sz="2000" i="1" u="sng" dirty="0"/>
              <a:t>子空间去相关正则</a:t>
            </a:r>
            <a:r>
              <a:rPr lang="zh-CN" altLang="en-US" sz="2000" dirty="0"/>
              <a:t>提升稳定</a:t>
            </a:r>
            <a:r>
              <a:rPr lang="en-US" altLang="zh-CN" sz="2000" dirty="0"/>
              <a:t>-</a:t>
            </a:r>
            <a:r>
              <a:rPr lang="zh-CN" altLang="en-US" sz="2000" dirty="0"/>
              <a:t>可塑平衡，且不依赖回放。</a:t>
            </a:r>
          </a:p>
          <a:p>
            <a:pPr lvl="1"/>
            <a:r>
              <a:rPr lang="zh-CN" altLang="en-US" sz="2000" dirty="0"/>
              <a:t>资产：提供 </a:t>
            </a:r>
            <a:r>
              <a:rPr lang="en-US" altLang="zh-CN" sz="2000" dirty="0"/>
              <a:t>Standard CL / Long Sequence / TRACE </a:t>
            </a:r>
            <a:r>
              <a:rPr lang="zh-CN" altLang="en-US" sz="2000" dirty="0"/>
              <a:t>三套连续学习评测与广泛 </a:t>
            </a:r>
            <a:r>
              <a:rPr lang="en-US" altLang="zh-CN" sz="2000" dirty="0"/>
              <a:t>baseline </a:t>
            </a:r>
            <a:r>
              <a:rPr lang="zh-CN" altLang="en-US" sz="2000" dirty="0"/>
              <a:t>对照（</a:t>
            </a:r>
            <a:r>
              <a:rPr lang="en-US" altLang="zh-CN" sz="2000" dirty="0" err="1"/>
              <a:t>SeqFT</a:t>
            </a:r>
            <a:r>
              <a:rPr lang="zh-CN" altLang="en-US" sz="2000" dirty="0"/>
              <a:t>、</a:t>
            </a:r>
            <a:r>
              <a:rPr lang="en-US" altLang="zh-CN" sz="2000" dirty="0"/>
              <a:t>EWC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LwF</a:t>
            </a:r>
            <a:r>
              <a:rPr lang="zh-CN" altLang="en-US" sz="2000" dirty="0"/>
              <a:t>、</a:t>
            </a:r>
            <a:r>
              <a:rPr lang="en-US" altLang="zh-CN" sz="2000" dirty="0"/>
              <a:t>O-</a:t>
            </a:r>
            <a:r>
              <a:rPr lang="en-US" altLang="zh-CN" sz="2000" dirty="0" err="1"/>
              <a:t>LoRA</a:t>
            </a:r>
            <a:r>
              <a:rPr lang="zh-CN" altLang="en-US" sz="2000" dirty="0"/>
              <a:t>、</a:t>
            </a:r>
            <a:r>
              <a:rPr lang="en-US" altLang="zh-CN" sz="2000" dirty="0"/>
              <a:t>LB-CL</a:t>
            </a:r>
            <a:r>
              <a:rPr lang="zh-CN" altLang="en-US" sz="2000" dirty="0"/>
              <a:t>、</a:t>
            </a:r>
            <a:r>
              <a:rPr lang="en-US" altLang="zh-CN" sz="2000" dirty="0"/>
              <a:t>DATA </a:t>
            </a:r>
            <a:r>
              <a:rPr lang="zh-CN" altLang="en-US" sz="2000" dirty="0"/>
              <a:t>等）。</a:t>
            </a:r>
            <a:endParaRPr lang="en-US" altLang="zh-CN" sz="2000" dirty="0"/>
          </a:p>
          <a:p>
            <a:r>
              <a:rPr lang="en-US" altLang="zh-CN" sz="2200" b="1" dirty="0"/>
              <a:t>2024.08, Learning to Route for Dynamic Adapter Composition in Continual Learning with Language Models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EMNLP 2024</a:t>
            </a:r>
            <a:r>
              <a:rPr lang="zh-CN" altLang="en-US" sz="2200" b="1" dirty="0"/>
              <a:t>）</a:t>
            </a:r>
          </a:p>
          <a:p>
            <a:pPr lvl="1"/>
            <a:r>
              <a:rPr lang="zh-CN" altLang="en-US" sz="2000" dirty="0"/>
              <a:t>贡献：参数高效持续学习中的</a:t>
            </a:r>
            <a:r>
              <a:rPr lang="zh-CN" altLang="en-US" sz="2000" i="1" u="sng" dirty="0"/>
              <a:t>“适配器组合与路由”范式</a:t>
            </a:r>
            <a:r>
              <a:rPr lang="zh-CN" altLang="en-US" sz="2000" dirty="0"/>
              <a:t>。</a:t>
            </a:r>
          </a:p>
          <a:p>
            <a:pPr lvl="1"/>
            <a:r>
              <a:rPr lang="zh-CN" altLang="en-US" sz="2000" dirty="0"/>
              <a:t>资产：明确 </a:t>
            </a:r>
            <a:r>
              <a:rPr lang="en-US" altLang="zh-CN" sz="2000" dirty="0"/>
              <a:t>MTL5 / WOS / </a:t>
            </a:r>
            <a:r>
              <a:rPr lang="en-US" altLang="zh-CN" sz="2000" dirty="0" err="1"/>
              <a:t>AfriSenti</a:t>
            </a:r>
            <a:r>
              <a:rPr lang="en-US" altLang="zh-CN" sz="2000" dirty="0"/>
              <a:t> </a:t>
            </a:r>
            <a:r>
              <a:rPr lang="zh-CN" altLang="en-US" sz="2000" dirty="0"/>
              <a:t>三类连续任务基准，并报告 </a:t>
            </a:r>
            <a:r>
              <a:rPr lang="en-US" altLang="zh-CN" sz="2000" dirty="0"/>
              <a:t>DAM / EPI / MoCL </a:t>
            </a:r>
            <a:r>
              <a:rPr lang="zh-CN" altLang="en-US" sz="2000" dirty="0"/>
              <a:t>等对照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676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6ABDD-98DC-2DA4-D367-E481DD04A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BF618E-6D40-4E15-14EB-025A08014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altLang="zh-CN" sz="3200" b="1" dirty="0"/>
              <a:t>Key Issue:</a:t>
            </a:r>
            <a:r>
              <a:rPr lang="zh-CN" altLang="en-US" sz="3200" dirty="0"/>
              <a:t>短文本隐式语义与弱上下文</a:t>
            </a:r>
            <a:r>
              <a:rPr lang="zh-CN" altLang="en-US" sz="3200" b="1" dirty="0"/>
              <a:t>鲁棒建模</a:t>
            </a:r>
            <a:endParaRPr lang="en-US" altLang="zh-CN" sz="3200" b="1" dirty="0"/>
          </a:p>
          <a:p>
            <a:r>
              <a:rPr lang="en-US" altLang="zh-CN" sz="2400" b="1" dirty="0"/>
              <a:t>24.03, LARA: Linguistic-Adaptive Retrieval-Augmentation for Multi-Turn Intent Classification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EMNLP 2024</a:t>
            </a:r>
            <a:r>
              <a:rPr lang="zh-CN" altLang="en-US" sz="2400" b="1" dirty="0"/>
              <a:t>）</a:t>
            </a:r>
          </a:p>
          <a:p>
            <a:pPr lvl="1"/>
            <a:r>
              <a:rPr lang="zh-CN" altLang="en-US" sz="2000" dirty="0"/>
              <a:t>贡献：多轮会话意图分类中，检索增强与上下文利用策略。</a:t>
            </a:r>
          </a:p>
          <a:p>
            <a:pPr lvl="1"/>
            <a:r>
              <a:rPr lang="zh-CN" altLang="en-US" sz="2000" dirty="0"/>
              <a:t>用途：可作为“上下文建模有效性”对照，不直接等价于 </a:t>
            </a:r>
            <a:r>
              <a:rPr lang="en-US" altLang="zh-CN" sz="2000" dirty="0"/>
              <a:t>FSCIL </a:t>
            </a:r>
            <a:r>
              <a:rPr lang="zh-CN" altLang="en-US" sz="2000" dirty="0"/>
              <a:t>主任务。</a:t>
            </a:r>
          </a:p>
          <a:p>
            <a:r>
              <a:rPr lang="en-US" altLang="zh-CN" sz="2400" b="1" dirty="0"/>
              <a:t>19.09, CASA-NLU: Context-Aware Self-Attentive NLU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EMNLP 2019</a:t>
            </a:r>
            <a:r>
              <a:rPr lang="zh-CN" altLang="en-US" sz="2400" b="1" dirty="0"/>
              <a:t>）</a:t>
            </a:r>
          </a:p>
          <a:p>
            <a:pPr lvl="1"/>
            <a:r>
              <a:rPr lang="zh-CN" altLang="en-US" sz="2000" dirty="0"/>
              <a:t>贡献：显式引入前序意图、槽位、对话行为和历史话语进行上下文建模。</a:t>
            </a:r>
          </a:p>
          <a:p>
            <a:pPr lvl="1"/>
            <a:r>
              <a:rPr lang="zh-CN" altLang="en-US" sz="2000" dirty="0"/>
              <a:t>用途：为上下文敏感编码器提供经典强基线参考。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514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3560-92BE-C6F8-12CC-CD592CE91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D423FE-5C8D-65E9-72B7-08D120367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r>
              <a:rPr lang="en-US" altLang="zh-CN" sz="3500" b="1" dirty="0"/>
              <a:t>Key Issue: </a:t>
            </a:r>
            <a:r>
              <a:rPr lang="zh-CN" altLang="en-US" sz="3500" b="1" dirty="0"/>
              <a:t>未知毒性变体误归类（开放集</a:t>
            </a:r>
            <a:r>
              <a:rPr lang="en-US" altLang="zh-CN" sz="3500" b="1" dirty="0"/>
              <a:t>/OOD</a:t>
            </a:r>
            <a:r>
              <a:rPr lang="zh-CN" altLang="en-US" sz="3500" b="1" dirty="0"/>
              <a:t>）</a:t>
            </a:r>
          </a:p>
          <a:p>
            <a:r>
              <a:rPr lang="en-US" altLang="zh-CN" sz="2400" b="1" dirty="0"/>
              <a:t>24.12, Multi-Granularity Open Intent Classification via Adaptive Granular-Ball Decision Boundary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AAAI 2025</a:t>
            </a:r>
            <a:r>
              <a:rPr lang="zh-CN" altLang="en-US" sz="2400" b="1" dirty="0"/>
              <a:t>）</a:t>
            </a:r>
          </a:p>
          <a:p>
            <a:pPr lvl="1"/>
            <a:r>
              <a:rPr lang="zh-CN" altLang="en-US" sz="2200" dirty="0"/>
              <a:t>贡献：多粒度</a:t>
            </a:r>
            <a:r>
              <a:rPr lang="zh-CN" altLang="en-US" sz="2200" i="1" u="sng" dirty="0"/>
              <a:t>边界建模</a:t>
            </a:r>
            <a:r>
              <a:rPr lang="zh-CN" altLang="en-US" sz="2200" dirty="0"/>
              <a:t>，直接针对已知</a:t>
            </a:r>
            <a:r>
              <a:rPr lang="en-US" altLang="zh-CN" sz="2200" dirty="0"/>
              <a:t>/</a:t>
            </a:r>
            <a:r>
              <a:rPr lang="zh-CN" altLang="en-US" sz="2200" dirty="0"/>
              <a:t>未知边界错分。</a:t>
            </a:r>
          </a:p>
          <a:p>
            <a:pPr lvl="1"/>
            <a:r>
              <a:rPr lang="zh-CN" altLang="en-US" sz="2200" dirty="0"/>
              <a:t>资产：</a:t>
            </a:r>
            <a:r>
              <a:rPr lang="en-US" altLang="zh-CN" sz="2200" dirty="0" err="1"/>
              <a:t>StackOverflow</a:t>
            </a:r>
            <a:r>
              <a:rPr lang="en-US" altLang="zh-CN" sz="2200" dirty="0"/>
              <a:t> / SNIPS / BANKING</a:t>
            </a:r>
            <a:r>
              <a:rPr lang="zh-CN" altLang="en-US" sz="2200" dirty="0"/>
              <a:t>数据集，含 </a:t>
            </a:r>
            <a:r>
              <a:rPr lang="en-US" altLang="zh-CN" sz="2200" dirty="0"/>
              <a:t>MSP / ADB / DA-ADB </a:t>
            </a:r>
            <a:r>
              <a:rPr lang="zh-CN" altLang="en-US" sz="2200" dirty="0"/>
              <a:t>对照。</a:t>
            </a:r>
          </a:p>
          <a:p>
            <a:r>
              <a:rPr lang="en-US" altLang="zh-CN" sz="2400" b="1" dirty="0"/>
              <a:t>22.11, Estimating Soft Labels for Out-of-Domain Intent Detection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EMNLP 2022 Main Oral</a:t>
            </a:r>
            <a:r>
              <a:rPr lang="zh-CN" altLang="en-US" sz="2400" b="1" dirty="0"/>
              <a:t>）</a:t>
            </a:r>
          </a:p>
          <a:p>
            <a:pPr lvl="1"/>
            <a:r>
              <a:rPr lang="zh-CN" altLang="en-US" sz="2200" dirty="0"/>
              <a:t>贡献：</a:t>
            </a:r>
            <a:r>
              <a:rPr lang="en-US" altLang="zh-CN" sz="2200" dirty="0" err="1"/>
              <a:t>ASoul</a:t>
            </a:r>
            <a:r>
              <a:rPr lang="en-US" altLang="zh-CN" sz="2200" dirty="0"/>
              <a:t> </a:t>
            </a:r>
            <a:r>
              <a:rPr lang="zh-CN" altLang="en-US" sz="2200" dirty="0"/>
              <a:t>软标签</a:t>
            </a:r>
            <a:r>
              <a:rPr lang="zh-CN" altLang="en-US" sz="2200" i="1" u="sng" dirty="0"/>
              <a:t>伪 </a:t>
            </a:r>
            <a:r>
              <a:rPr lang="en-US" altLang="zh-CN" sz="2200" i="1" u="sng" dirty="0"/>
              <a:t>OOD </a:t>
            </a:r>
            <a:r>
              <a:rPr lang="zh-CN" altLang="en-US" sz="2200" i="1" u="sng" dirty="0"/>
              <a:t>学习</a:t>
            </a:r>
            <a:r>
              <a:rPr lang="zh-CN" altLang="en-US" sz="2200" dirty="0"/>
              <a:t>，缓解未知样本被硬归类。</a:t>
            </a:r>
          </a:p>
          <a:p>
            <a:pPr lvl="1"/>
            <a:r>
              <a:rPr lang="zh-CN" altLang="en-US" sz="2200" dirty="0"/>
              <a:t>资产：</a:t>
            </a:r>
            <a:r>
              <a:rPr lang="en-US" altLang="zh-CN" sz="2200" dirty="0"/>
              <a:t>CLINC150 / </a:t>
            </a:r>
            <a:r>
              <a:rPr lang="en-US" altLang="zh-CN" sz="2200" dirty="0" err="1"/>
              <a:t>StackOverflow</a:t>
            </a:r>
            <a:r>
              <a:rPr lang="en-US" altLang="zh-CN" sz="2200" dirty="0"/>
              <a:t> / Banking</a:t>
            </a:r>
            <a:r>
              <a:rPr lang="zh-CN" altLang="en-US" sz="2200" dirty="0"/>
              <a:t>，含 </a:t>
            </a:r>
            <a:r>
              <a:rPr lang="en-US" altLang="zh-CN" sz="2200" dirty="0"/>
              <a:t>MSP / LMCL / ADB / GOT</a:t>
            </a:r>
            <a:r>
              <a:rPr lang="zh-CN" altLang="en-US" sz="2200" dirty="0"/>
              <a:t>。</a:t>
            </a:r>
          </a:p>
          <a:p>
            <a:r>
              <a:rPr lang="en-US" altLang="zh-CN" sz="2400" b="1" dirty="0"/>
              <a:t>22.10, </a:t>
            </a:r>
            <a:r>
              <a:rPr lang="en-US" altLang="zh-CN" sz="2400" b="1" dirty="0" err="1"/>
              <a:t>UniNL</a:t>
            </a:r>
            <a:r>
              <a:rPr lang="en-US" altLang="zh-CN" sz="2400" b="1" dirty="0"/>
              <a:t>: Aligning Representation Learning with Scoring Function for OOD Detection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EMNLP 2022 Main</a:t>
            </a:r>
            <a:r>
              <a:rPr lang="zh-CN" altLang="en-US" sz="2400" b="1" dirty="0"/>
              <a:t>）</a:t>
            </a:r>
          </a:p>
          <a:p>
            <a:pPr lvl="1"/>
            <a:r>
              <a:rPr lang="zh-CN" altLang="en-US" sz="2200" dirty="0"/>
              <a:t>贡献：将表征学习目标与 </a:t>
            </a:r>
            <a:r>
              <a:rPr lang="en-US" altLang="zh-CN" sz="2200" dirty="0"/>
              <a:t>OOD </a:t>
            </a:r>
            <a:r>
              <a:rPr lang="zh-CN" altLang="en-US" sz="2200" dirty="0"/>
              <a:t>打分函数对齐（</a:t>
            </a:r>
            <a:r>
              <a:rPr lang="en-US" altLang="zh-CN" sz="2200" dirty="0"/>
              <a:t>KNCL + KNN score</a:t>
            </a:r>
            <a:r>
              <a:rPr lang="zh-CN" altLang="en-US" sz="2200" dirty="0"/>
              <a:t>）。</a:t>
            </a:r>
          </a:p>
          <a:p>
            <a:pPr lvl="1"/>
            <a:r>
              <a:rPr lang="zh-CN" altLang="en-US" sz="2200" dirty="0"/>
              <a:t>资产：</a:t>
            </a:r>
            <a:r>
              <a:rPr lang="en-US" altLang="zh-CN" sz="2200" dirty="0"/>
              <a:t>CLINC-Full / CLINC-Small / Banking / </a:t>
            </a:r>
            <a:r>
              <a:rPr lang="en-US" altLang="zh-CN" sz="2200" dirty="0" err="1"/>
              <a:t>StackOverflow</a:t>
            </a:r>
            <a:r>
              <a:rPr lang="zh-CN" altLang="en-US" sz="2200" dirty="0"/>
              <a:t>，含 </a:t>
            </a:r>
            <a:r>
              <a:rPr lang="en-US" altLang="zh-CN" sz="2200" dirty="0"/>
              <a:t>MSP / LOF / GDA / Energy / ADB / KNN-CL</a:t>
            </a:r>
            <a:r>
              <a:rPr lang="zh-CN" altLang="en-US" sz="2200" dirty="0"/>
              <a:t>。</a:t>
            </a:r>
          </a:p>
          <a:p>
            <a:r>
              <a:rPr lang="en-US" altLang="zh-CN" sz="2400" b="1" dirty="0"/>
              <a:t>21.06, Out-of-Scope Intent Detection with Self-Supervision and Discriminative Training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ACL 2021 Long Oral</a:t>
            </a:r>
            <a:r>
              <a:rPr lang="zh-CN" altLang="en-US" sz="2400" b="1" dirty="0"/>
              <a:t>）</a:t>
            </a:r>
          </a:p>
          <a:p>
            <a:pPr lvl="1"/>
            <a:r>
              <a:rPr lang="zh-CN" altLang="en-US" sz="2200" dirty="0"/>
              <a:t>贡献：通过伪异常样本构造进行</a:t>
            </a:r>
            <a:r>
              <a:rPr lang="zh-CN" altLang="en-US" sz="2200" i="1" u="sng" dirty="0"/>
              <a:t>端到端 </a:t>
            </a:r>
            <a:r>
              <a:rPr lang="en-US" altLang="zh-CN" sz="2200" i="1" u="sng" dirty="0"/>
              <a:t>OOS </a:t>
            </a:r>
            <a:r>
              <a:rPr lang="zh-CN" altLang="en-US" sz="2200" i="1" u="sng" dirty="0"/>
              <a:t>训练</a:t>
            </a:r>
            <a:r>
              <a:rPr lang="zh-CN" altLang="en-US" sz="2200" dirty="0"/>
              <a:t>。</a:t>
            </a:r>
          </a:p>
          <a:p>
            <a:pPr lvl="1"/>
            <a:r>
              <a:rPr lang="zh-CN" altLang="en-US" sz="2200" dirty="0"/>
              <a:t>资产：</a:t>
            </a:r>
            <a:r>
              <a:rPr lang="en-US" altLang="zh-CN" sz="2200" dirty="0"/>
              <a:t>CLINC150 / </a:t>
            </a:r>
            <a:r>
              <a:rPr lang="en-US" altLang="zh-CN" sz="2200" dirty="0" err="1"/>
              <a:t>StackOverflow</a:t>
            </a:r>
            <a:r>
              <a:rPr lang="en-US" altLang="zh-CN" sz="2200" dirty="0"/>
              <a:t> / Banking / M-CID-EN</a:t>
            </a:r>
            <a:r>
              <a:rPr lang="zh-CN" altLang="en-US" sz="2200" dirty="0"/>
              <a:t>，含 </a:t>
            </a:r>
            <a:r>
              <a:rPr lang="en-US" altLang="zh-CN" sz="2200" dirty="0"/>
              <a:t>MSP / SEG / LMCL / </a:t>
            </a:r>
            <a:r>
              <a:rPr lang="en-US" altLang="zh-CN" sz="2200" dirty="0" err="1"/>
              <a:t>Softmax</a:t>
            </a:r>
            <a:r>
              <a:rPr lang="zh-CN" altLang="en-US" sz="2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33316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3FC66-95E9-6474-02BB-6E33BA6E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任务</a:t>
            </a:r>
            <a:r>
              <a:rPr lang="en-US" altLang="zh-CN" dirty="0"/>
              <a:t>: </a:t>
            </a:r>
            <a:r>
              <a:rPr lang="zh-CN" altLang="en-US" dirty="0"/>
              <a:t>面向</a:t>
            </a:r>
            <a:r>
              <a:rPr lang="zh-CN" altLang="en-US" b="1" dirty="0"/>
              <a:t> </a:t>
            </a:r>
            <a:r>
              <a:rPr lang="en-US" altLang="zh-CN" b="1" dirty="0"/>
              <a:t>FSCIL </a:t>
            </a:r>
            <a:r>
              <a:rPr lang="zh-CN" altLang="en-US" dirty="0"/>
              <a:t>的毒性评论识别与细粒度分类</a:t>
            </a:r>
            <a:r>
              <a:rPr lang="en-US" altLang="zh-CN" dirty="0"/>
              <a:t>,</a:t>
            </a:r>
            <a:r>
              <a:rPr lang="zh-CN" altLang="en-US" dirty="0"/>
              <a:t>要求“学新类、不忘旧类、能拒识未知”。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552684-6941-65F2-F872-E8FF821BD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FSCIL</a:t>
            </a:r>
            <a:r>
              <a:rPr lang="zh-CN" altLang="en-US" dirty="0"/>
              <a:t>少样本 类增量学习</a:t>
            </a:r>
            <a:endParaRPr lang="en-US" altLang="zh-CN" dirty="0"/>
          </a:p>
          <a:p>
            <a:r>
              <a:rPr lang="zh-CN" altLang="en-US" dirty="0"/>
              <a:t>自然语料的有害信息类别</a:t>
            </a:r>
            <a:r>
              <a:rPr lang="zh-CN" altLang="en-US" b="1" dirty="0"/>
              <a:t>会随时间变化</a:t>
            </a:r>
            <a:r>
              <a:rPr lang="zh-CN" altLang="en-US" dirty="0"/>
              <a:t>，模型需要适配新类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en-US" dirty="0"/>
              <a:t>公开数据敏感性低，可以保留少量旧阶段样本，以对抗遗忘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/>
              <a:t>识别新数据时，要判断是新出现的类别还是已有类别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0553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C2100-3268-3417-012D-7FFAA30F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2058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DF829-03F2-4670-B1D8-010670B66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9538"/>
            <a:ext cx="12192000" cy="60484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/>
              <a:t>任务</a:t>
            </a:r>
            <a:r>
              <a:rPr lang="en-US" altLang="zh-CN" sz="2400" dirty="0"/>
              <a:t>: </a:t>
            </a:r>
            <a:r>
              <a:rPr lang="zh-CN" altLang="en-US" sz="2400" dirty="0"/>
              <a:t>面向 </a:t>
            </a:r>
            <a:r>
              <a:rPr lang="en-US" altLang="zh-CN" sz="2400" dirty="0"/>
              <a:t>FSCIL </a:t>
            </a:r>
            <a:r>
              <a:rPr lang="zh-CN" altLang="en-US" sz="2400" dirty="0"/>
              <a:t>的</a:t>
            </a:r>
            <a:r>
              <a:rPr lang="zh-CN" altLang="en-US" sz="2400" b="1" dirty="0"/>
              <a:t>毒性评论识别</a:t>
            </a:r>
            <a:r>
              <a:rPr lang="zh-CN" altLang="en-US" sz="2400" dirty="0"/>
              <a:t>与细粒度分类</a:t>
            </a:r>
            <a:r>
              <a:rPr lang="en-US" altLang="zh-CN" sz="2400" dirty="0"/>
              <a:t>,</a:t>
            </a:r>
            <a:r>
              <a:rPr lang="zh-CN" altLang="en-US" sz="2400" dirty="0"/>
              <a:t>要求“学新类、不忘旧类、能拒识未知”。</a:t>
            </a:r>
          </a:p>
          <a:p>
            <a:pPr>
              <a:lnSpc>
                <a:spcPct val="100000"/>
              </a:lnSpc>
            </a:pPr>
            <a:r>
              <a:rPr lang="zh-CN" altLang="en-US" sz="2400" dirty="0"/>
              <a:t>核心思路：用 </a:t>
            </a:r>
            <a:r>
              <a:rPr lang="en-US" altLang="zh-CN" sz="2400" dirty="0"/>
              <a:t>Transformer </a:t>
            </a:r>
            <a:r>
              <a:rPr lang="zh-CN" altLang="en-US" sz="2400" dirty="0"/>
              <a:t>做主干，在每个增量阶段只训练少量参数，控制遗忘并保留旧知识；使用针对场景</a:t>
            </a:r>
            <a:r>
              <a:rPr lang="zh-CN" altLang="en-US" sz="2400" b="1" dirty="0"/>
              <a:t>定制的位置编码</a:t>
            </a:r>
            <a:r>
              <a:rPr lang="zh-CN" altLang="en-US" sz="2400" dirty="0"/>
              <a:t>，以期望提升性能。</a:t>
            </a:r>
          </a:p>
          <a:p>
            <a:pPr>
              <a:lnSpc>
                <a:spcPct val="100000"/>
              </a:lnSpc>
            </a:pPr>
            <a:r>
              <a:rPr lang="zh-CN" altLang="en-US" sz="2400" dirty="0"/>
              <a:t>主要模块：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可训练 </a:t>
            </a:r>
            <a:r>
              <a:rPr lang="en-US" altLang="zh-CN" sz="2000" dirty="0"/>
              <a:t>KV </a:t>
            </a:r>
            <a:r>
              <a:rPr lang="zh-CN" altLang="en-US" sz="2000" dirty="0"/>
              <a:t>前缀：直接学习前缀参数并端到端优化。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QKV/FFN </a:t>
            </a:r>
            <a:r>
              <a:rPr lang="zh-CN" altLang="en-US" sz="2000" dirty="0"/>
              <a:t>固定秩 </a:t>
            </a:r>
            <a:r>
              <a:rPr lang="en-US" altLang="zh-CN" sz="2000" dirty="0" err="1"/>
              <a:t>LoRA</a:t>
            </a:r>
            <a:r>
              <a:rPr lang="zh-CN" altLang="en-US" sz="2000" dirty="0"/>
              <a:t>：在注意力和前馈层上做低秩增量更新。</a:t>
            </a:r>
          </a:p>
          <a:p>
            <a:pPr lvl="2">
              <a:lnSpc>
                <a:spcPct val="100000"/>
              </a:lnSpc>
            </a:pPr>
            <a:r>
              <a:rPr lang="zh-CN" altLang="en-US" sz="1800" dirty="0"/>
              <a:t>评论结构感知位置编码：显式建模标点、强调与子句结构信号。</a:t>
            </a:r>
          </a:p>
          <a:p>
            <a:pPr lvl="2">
              <a:lnSpc>
                <a:spcPct val="100000"/>
              </a:lnSpc>
            </a:pPr>
            <a:r>
              <a:rPr lang="zh-CN" altLang="en-US" sz="1800" dirty="0"/>
              <a:t>开放集门控：对未知毒性变体或新型风险做拒识，而不是硬归到已知类。</a:t>
            </a:r>
            <a:endParaRPr lang="en-US" altLang="zh-CN" sz="1800" dirty="0"/>
          </a:p>
          <a:p>
            <a:r>
              <a:rPr lang="zh-CN" altLang="en-US" sz="2400" dirty="0"/>
              <a:t>增量训练方式：</a:t>
            </a:r>
          </a:p>
          <a:p>
            <a:pPr lvl="1"/>
            <a:r>
              <a:rPr lang="zh-CN" altLang="en-US" sz="2000" dirty="0"/>
              <a:t>第 </a:t>
            </a:r>
            <a:r>
              <a:rPr lang="en-US" altLang="zh-CN" sz="2000" dirty="0"/>
              <a:t>k </a:t>
            </a:r>
            <a:r>
              <a:rPr lang="zh-CN" altLang="en-US" sz="2000" dirty="0"/>
              <a:t>阶段只训练当前阶段的 </a:t>
            </a:r>
            <a:r>
              <a:rPr lang="en-US" altLang="zh-CN" sz="2000" dirty="0"/>
              <a:t>KV </a:t>
            </a:r>
            <a:r>
              <a:rPr lang="zh-CN" altLang="en-US" sz="2000" dirty="0"/>
              <a:t>前缀、</a:t>
            </a:r>
            <a:r>
              <a:rPr lang="en-US" altLang="zh-CN" sz="2000" dirty="0" err="1"/>
              <a:t>LoRA</a:t>
            </a:r>
            <a:r>
              <a:rPr lang="en-US" altLang="zh-CN" sz="2000" dirty="0"/>
              <a:t> </a:t>
            </a:r>
            <a:r>
              <a:rPr lang="zh-CN" altLang="en-US" sz="2000" dirty="0"/>
              <a:t>适配器和分类头。</a:t>
            </a:r>
          </a:p>
          <a:p>
            <a:pPr lvl="1"/>
            <a:r>
              <a:rPr lang="zh-CN" altLang="en-US" sz="2000" dirty="0"/>
              <a:t>历史阶段适配器</a:t>
            </a:r>
            <a:r>
              <a:rPr lang="zh-CN" altLang="en-US" sz="2000" b="1" dirty="0"/>
              <a:t>冻结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（可选）必要时配合蒸馏和正则约束</a:t>
            </a:r>
            <a:r>
              <a:rPr lang="zh-CN" altLang="en-US" sz="2000" dirty="0"/>
              <a:t>。</a:t>
            </a:r>
          </a:p>
          <a:p>
            <a:r>
              <a:rPr lang="zh-CN" altLang="en-US" sz="2400" dirty="0"/>
              <a:t>推理方式：</a:t>
            </a:r>
          </a:p>
          <a:p>
            <a:pPr lvl="1"/>
            <a:r>
              <a:rPr lang="zh-CN" altLang="en-US" sz="2000" dirty="0"/>
              <a:t>输出三类结果：多标签概率向量、综合风险分数、未知风险概率。</a:t>
            </a:r>
          </a:p>
          <a:p>
            <a:pPr lvl="1"/>
            <a:r>
              <a:rPr lang="zh-CN" altLang="en-US" sz="2000" b="1" dirty="0"/>
              <a:t>门控</a:t>
            </a:r>
            <a:r>
              <a:rPr lang="en-US" altLang="zh-CN" sz="2000" b="1" dirty="0"/>
              <a:t>: </a:t>
            </a:r>
            <a:r>
              <a:rPr lang="zh-CN" altLang="en-US" sz="2000" dirty="0"/>
              <a:t>用 </a:t>
            </a:r>
            <a:r>
              <a:rPr lang="en-US" altLang="zh-CN" sz="2000" dirty="0"/>
              <a:t>max-sigmoid </a:t>
            </a:r>
            <a:r>
              <a:rPr lang="zh-CN" altLang="en-US" sz="2000" dirty="0"/>
              <a:t>置信度 </a:t>
            </a:r>
            <a:r>
              <a:rPr lang="en-US" altLang="zh-CN" sz="2000" dirty="0"/>
              <a:t>+ </a:t>
            </a:r>
            <a:r>
              <a:rPr lang="zh-CN" altLang="en-US" sz="2000" dirty="0"/>
              <a:t>多标签熵 </a:t>
            </a:r>
            <a:r>
              <a:rPr lang="en-US" altLang="zh-CN" sz="2000" dirty="0"/>
              <a:t>+ </a:t>
            </a:r>
            <a:r>
              <a:rPr lang="zh-CN" altLang="en-US" sz="2000" dirty="0"/>
              <a:t>原型距离判断是否输出“未知风险”。</a:t>
            </a:r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9693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0F4FB-8714-DF84-14FA-723161FE5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920859"/>
          </a:xfrm>
        </p:spPr>
        <p:txBody>
          <a:bodyPr/>
          <a:lstStyle/>
          <a:p>
            <a:r>
              <a:rPr lang="zh-CN" altLang="en-US" dirty="0"/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AD5EFF-9640-B009-BCE2-2863D9C19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9114"/>
            <a:ext cx="12192000" cy="5900631"/>
          </a:xfrm>
        </p:spPr>
        <p:txBody>
          <a:bodyPr>
            <a:normAutofit/>
          </a:bodyPr>
          <a:lstStyle/>
          <a:p>
            <a:r>
              <a:rPr lang="zh-CN" altLang="en-US" dirty="0"/>
              <a:t>评测指标：</a:t>
            </a:r>
          </a:p>
          <a:p>
            <a:pPr lvl="1"/>
            <a:r>
              <a:rPr lang="zh-CN" altLang="en-US" dirty="0"/>
              <a:t>持续学习：</a:t>
            </a:r>
            <a:r>
              <a:rPr lang="en-US" altLang="zh-CN" dirty="0"/>
              <a:t>Avg-</a:t>
            </a:r>
            <a:r>
              <a:rPr lang="en-US" altLang="zh-CN" dirty="0" err="1"/>
              <a:t>mAP</a:t>
            </a:r>
            <a:r>
              <a:rPr lang="zh-CN" altLang="en-US" dirty="0"/>
              <a:t>、</a:t>
            </a:r>
            <a:r>
              <a:rPr lang="en-US" altLang="zh-CN" dirty="0"/>
              <a:t>Macro-F1</a:t>
            </a:r>
            <a:r>
              <a:rPr lang="zh-CN" altLang="en-US" dirty="0"/>
              <a:t>、</a:t>
            </a:r>
            <a:r>
              <a:rPr lang="en-US" altLang="zh-CN" dirty="0"/>
              <a:t>Forgetting</a:t>
            </a:r>
          </a:p>
          <a:p>
            <a:pPr lvl="1"/>
            <a:r>
              <a:rPr lang="zh-CN" altLang="en-US" dirty="0"/>
              <a:t>拒识能力：</a:t>
            </a:r>
            <a:r>
              <a:rPr lang="en-US" altLang="zh-CN" dirty="0"/>
              <a:t>AUROC</a:t>
            </a:r>
            <a:r>
              <a:rPr lang="zh-CN" altLang="en-US" dirty="0"/>
              <a:t>、</a:t>
            </a:r>
            <a:r>
              <a:rPr lang="en-US" altLang="zh-CN" dirty="0"/>
              <a:t>FPR95</a:t>
            </a:r>
          </a:p>
          <a:p>
            <a:pPr lvl="1"/>
            <a:r>
              <a:rPr lang="zh-CN" altLang="en-US" dirty="0"/>
              <a:t>长尾效果：</a:t>
            </a:r>
            <a:r>
              <a:rPr lang="en-US" altLang="zh-CN" dirty="0"/>
              <a:t>Tail Recall</a:t>
            </a:r>
          </a:p>
          <a:p>
            <a:pPr lvl="1"/>
            <a:r>
              <a:rPr lang="zh-CN" altLang="en-US" dirty="0"/>
              <a:t>工程代价：参数增量、推理时延</a:t>
            </a:r>
            <a:endParaRPr lang="en-US" altLang="zh-CN" dirty="0"/>
          </a:p>
          <a:p>
            <a:r>
              <a:rPr lang="zh-CN" altLang="en-US" dirty="0"/>
              <a:t>评测数据</a:t>
            </a:r>
            <a:endParaRPr lang="en-US" altLang="zh-CN" dirty="0"/>
          </a:p>
          <a:p>
            <a:pPr lvl="1"/>
            <a:r>
              <a:rPr lang="zh-CN" altLang="en-US" dirty="0"/>
              <a:t>主数据集为</a:t>
            </a:r>
            <a:r>
              <a:rPr lang="en-US" altLang="zh-CN" dirty="0"/>
              <a:t>Jigsaw Toxic Comment</a:t>
            </a:r>
          </a:p>
          <a:p>
            <a:pPr lvl="1"/>
            <a:r>
              <a:rPr lang="en-US" altLang="zh-CN" dirty="0"/>
              <a:t>Jigsaw </a:t>
            </a:r>
            <a:r>
              <a:rPr lang="zh-CN" altLang="en-US" dirty="0"/>
              <a:t>为多标签体系（</a:t>
            </a:r>
            <a:r>
              <a:rPr lang="en-US" altLang="zh-CN" dirty="0"/>
              <a:t>toxic</a:t>
            </a:r>
            <a:r>
              <a:rPr lang="zh-CN" altLang="en-US" dirty="0"/>
              <a:t>、</a:t>
            </a:r>
            <a:r>
              <a:rPr lang="en-US" altLang="zh-CN" dirty="0" err="1"/>
              <a:t>severe_toxic</a:t>
            </a:r>
            <a:r>
              <a:rPr lang="zh-CN" altLang="en-US" dirty="0"/>
              <a:t>、</a:t>
            </a:r>
            <a:r>
              <a:rPr lang="en-US" altLang="zh-CN" dirty="0"/>
              <a:t>obscene</a:t>
            </a:r>
            <a:r>
              <a:rPr lang="zh-CN" altLang="en-US" dirty="0"/>
              <a:t>、</a:t>
            </a:r>
            <a:r>
              <a:rPr lang="en-US" altLang="zh-CN" dirty="0"/>
              <a:t>threat</a:t>
            </a:r>
            <a:r>
              <a:rPr lang="zh-CN" altLang="en-US" dirty="0"/>
              <a:t>、</a:t>
            </a:r>
            <a:r>
              <a:rPr lang="en-US" altLang="zh-CN" dirty="0"/>
              <a:t>insult</a:t>
            </a:r>
            <a:r>
              <a:rPr lang="zh-CN" altLang="en-US" dirty="0"/>
              <a:t>、</a:t>
            </a:r>
            <a:r>
              <a:rPr lang="en-US" altLang="zh-CN" dirty="0" err="1"/>
              <a:t>identity_hate</a:t>
            </a:r>
            <a:r>
              <a:rPr lang="zh-CN" altLang="en-US" dirty="0"/>
              <a:t>），训练端采用 </a:t>
            </a:r>
            <a:r>
              <a:rPr lang="en-US" altLang="zh-CN" dirty="0"/>
              <a:t>sigmoid + </a:t>
            </a:r>
            <a:r>
              <a:rPr lang="zh-CN" altLang="en-US" dirty="0"/>
              <a:t>多标签损失，不使用单标签 </a:t>
            </a:r>
            <a:r>
              <a:rPr lang="en-US" altLang="zh-CN" dirty="0" err="1"/>
              <a:t>softmax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Jigsaw Unintended Bias in Toxicity Classification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（偏置与亚群体鲁棒性补充）</a:t>
            </a:r>
          </a:p>
          <a:p>
            <a:r>
              <a:rPr lang="zh-CN" altLang="en-US" dirty="0"/>
              <a:t>对照基线：</a:t>
            </a:r>
          </a:p>
          <a:p>
            <a:pPr lvl="1"/>
            <a:r>
              <a:rPr lang="zh-CN" altLang="en-US" dirty="0"/>
              <a:t>精简主表：</a:t>
            </a:r>
            <a:r>
              <a:rPr lang="en-US" altLang="zh-CN" dirty="0"/>
              <a:t>Sequential Fine-tune</a:t>
            </a:r>
            <a:r>
              <a:rPr lang="zh-CN" altLang="en-US" dirty="0"/>
              <a:t>、</a:t>
            </a:r>
            <a:r>
              <a:rPr lang="en-US" altLang="zh-CN" dirty="0"/>
              <a:t>Task-</a:t>
            </a:r>
            <a:r>
              <a:rPr lang="en-US" altLang="zh-CN" dirty="0" err="1"/>
              <a:t>LoRA</a:t>
            </a:r>
            <a:r>
              <a:rPr lang="zh-CN" altLang="en-US" dirty="0"/>
              <a:t>、</a:t>
            </a:r>
            <a:r>
              <a:rPr lang="en-US" altLang="zh-CN" dirty="0"/>
              <a:t>Task-</a:t>
            </a:r>
            <a:r>
              <a:rPr lang="en-US" altLang="zh-CN" dirty="0" err="1"/>
              <a:t>LoRA</a:t>
            </a:r>
            <a:r>
              <a:rPr lang="en-US" altLang="zh-CN" dirty="0"/>
              <a:t> + MSP</a:t>
            </a:r>
            <a:r>
              <a:rPr lang="zh-CN" altLang="en-US" dirty="0"/>
              <a:t>、</a:t>
            </a:r>
            <a:r>
              <a:rPr lang="en-US" altLang="zh-CN" dirty="0"/>
              <a:t>Task-</a:t>
            </a:r>
            <a:r>
              <a:rPr lang="en-US" altLang="zh-CN" dirty="0" err="1"/>
              <a:t>LoRA</a:t>
            </a:r>
            <a:r>
              <a:rPr lang="en-US" altLang="zh-CN" dirty="0"/>
              <a:t> + ADB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（可选加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MoCL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等更多基线）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8766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4451</TotalTime>
  <Words>1045</Words>
  <Application>Microsoft Office PowerPoint</Application>
  <PresentationFormat>宽屏</PresentationFormat>
  <Paragraphs>69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语料中犯罪意图识别与分类 </vt:lpstr>
      <vt:lpstr>PowerPoint 演示文稿</vt:lpstr>
      <vt:lpstr>PowerPoint 演示文稿</vt:lpstr>
      <vt:lpstr>PowerPoint 演示文稿</vt:lpstr>
      <vt:lpstr>PowerPoint 演示文稿</vt:lpstr>
      <vt:lpstr>任务: 面向 FSCIL 的毒性评论识别与细粒度分类,要求“学新类、不忘旧类、能拒识未知”。</vt:lpstr>
      <vt:lpstr>方法</vt:lpstr>
      <vt:lpstr>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凯恩 彭</dc:creator>
  <cp:lastModifiedBy>凯恩 彭</cp:lastModifiedBy>
  <cp:revision>3</cp:revision>
  <dcterms:created xsi:type="dcterms:W3CDTF">2026-04-14T08:48:26Z</dcterms:created>
  <dcterms:modified xsi:type="dcterms:W3CDTF">2026-04-21T02:26:47Z</dcterms:modified>
</cp:coreProperties>
</file>