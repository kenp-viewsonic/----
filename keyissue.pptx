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5"/>
  </p:notesMasterIdLst>
  <p:handoutMasterIdLst>
    <p:handoutMasterId r:id="rId6"/>
  </p:handoutMasterIdLst>
  <p:sldIdLst>
    <p:sldId id="260" r:id="rId2"/>
    <p:sldId id="258" r:id="rId3"/>
    <p:sldId id="261" r:id="rId4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3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DC13AB6D-DEA2-4CBB-AC69-1EF1A6AD1512}">
      <dgm:prSet/>
      <dgm:spPr/>
      <dgm:t>
        <a:bodyPr rtlCol="0"/>
        <a:lstStyle/>
        <a:p>
          <a:pPr rtl="0">
            <a:defRPr cap="all"/>
          </a:pPr>
          <a:r>
            <a:rPr lang="zh-CN" altLang="en-US" b="0" i="0"/>
            <a:t>面向连续语料流，任务目标是“识别可疑文本并分类风险类型”。</a:t>
          </a:r>
          <a:endParaRPr lang="zh-cn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2C752582-D9FF-4E04-A92F-827DB4BB5C48}" type="parTrans" cxnId="{4B888393-351D-4489-90C9-5A68061AB236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C64CC83-643C-4E12-8F97-BC19DC031190}" type="sibTrans" cxnId="{4B888393-351D-4489-90C9-5A68061AB236}">
      <dgm:prSet phldrT="01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</a:p>
      </dgm:t>
    </dgm:pt>
    <dgm:pt modelId="{53742231-981F-480A-940F-203EC2F7423F}">
      <dgm:prSet/>
      <dgm:spPr/>
      <dgm:t>
        <a:bodyPr rtlCol="0"/>
        <a:lstStyle/>
        <a:p>
          <a:pPr rtl="0">
            <a:defRPr cap="all"/>
          </a:pPr>
          <a:r>
            <a:rPr lang="zh-CN" altLang="en-US" b="0" i="0" dirty="0"/>
            <a:t>现有方法多依赖单条文本语义，容易把热点讨论误判为高风险。</a:t>
          </a:r>
          <a:endParaRPr lang="zh-cn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2FC75195-FBA1-43DE-85DD-40B4B3A2F1F3}" type="parTrans" cxnId="{F226B1C2-5D99-403A-8240-EAD6BD4D8534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EF449C32-A7AE-4099-9E9B-9E2F736A89CE}" type="sibTrans" cxnId="{F226B1C2-5D99-403A-8240-EAD6BD4D8534}">
      <dgm:prSet phldrT="02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</a:p>
      </dgm:t>
    </dgm:pt>
    <dgm:pt modelId="{9EF41CC5-EF3B-4A6D-8229-3F1333EADFB3}">
      <dgm:prSet/>
      <dgm:spPr/>
      <dgm:t>
        <a:bodyPr rtlCol="0"/>
        <a:lstStyle/>
        <a:p>
          <a:pPr rtl="0">
            <a:defRPr cap="all"/>
          </a:pPr>
          <a:r>
            <a:rPr lang="zh-CN" altLang="en-US" b="0" i="0" dirty="0"/>
            <a:t>结果是</a:t>
          </a:r>
          <a:r>
            <a:rPr lang="zh-CN" altLang="en-US" b="0" i="0" u="sng" dirty="0"/>
            <a:t>误报高</a:t>
          </a:r>
          <a:r>
            <a:rPr lang="zh-CN" altLang="en-US" b="0" i="0" dirty="0"/>
            <a:t>、分类不稳，审核成本上升。</a:t>
          </a:r>
          <a:endParaRPr lang="zh-cn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DAEF1C7D-B0C5-46FA-BED3-8A54E918D3E0}" type="parTrans" cxnId="{E476EEBC-7C9F-4E07-BD58-1044B9769B64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8E6DD7C-B953-4119-9F64-9914E467ECBF}" type="sibTrans" cxnId="{E476EEBC-7C9F-4E07-BD58-1044B9769B64}">
      <dgm:prSet phldrT="03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DC13AB6D-DEA2-4CBB-AC69-1EF1A6AD1512}">
      <dgm:prSet/>
      <dgm:spPr/>
      <dgm:t>
        <a:bodyPr rtlCol="0"/>
        <a:lstStyle/>
        <a:p>
          <a:pPr rtl="0">
            <a:defRPr cap="all"/>
          </a:pPr>
          <a:r>
            <a:rPr lang="zh-CN" altLang="en-US" b="0" i="0" dirty="0"/>
            <a:t>如何区分“短期突发噪声”与“持续性犯罪倾向表达”。</a:t>
          </a:r>
          <a:endParaRPr lang="zh-cn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2C752582-D9FF-4E04-A92F-827DB4BB5C48}" type="parTrans" cxnId="{4B888393-351D-4489-90C9-5A68061AB236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C64CC83-643C-4E12-8F97-BC19DC031190}" type="sibTrans" cxnId="{4B888393-351D-4489-90C9-5A68061AB236}">
      <dgm:prSet phldrT="01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</a:p>
      </dgm:t>
    </dgm:pt>
    <dgm:pt modelId="{53742231-981F-480A-940F-203EC2F7423F}">
      <dgm:prSet/>
      <dgm:spPr/>
      <dgm:t>
        <a:bodyPr rtlCol="0"/>
        <a:lstStyle/>
        <a:p>
          <a:pPr rtl="0">
            <a:defRPr cap="all"/>
          </a:pPr>
          <a:r>
            <a:rPr lang="zh-CN" altLang="en-US" b="0" i="0" dirty="0"/>
            <a:t>如何在不牺牲召回的前提下，降低误报并提升分类稳定性。</a:t>
          </a:r>
          <a:endParaRPr lang="zh-cn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EF449C32-A7AE-4099-9E9B-9E2F736A89CE}" type="sibTrans" cxnId="{F226B1C2-5D99-403A-8240-EAD6BD4D8534}">
      <dgm:prSet phldrT="02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</a:p>
      </dgm:t>
    </dgm:pt>
    <dgm:pt modelId="{2FC75195-FBA1-43DE-85DD-40B4B3A2F1F3}" type="parTrans" cxnId="{F226B1C2-5D99-403A-8240-EAD6BD4D8534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EF41CC5-EF3B-4A6D-8229-3F1333EADFB3}">
      <dgm:prSet/>
      <dgm:spPr/>
      <dgm:t>
        <a:bodyPr rtlCol="0"/>
        <a:lstStyle/>
        <a:p>
          <a:pPr rtl="0">
            <a:defRPr cap="all"/>
          </a:pPr>
          <a:r>
            <a:rPr lang="zh-CN" altLang="en-US" b="0" i="0" dirty="0"/>
            <a:t>本研究聚焦：在基座文本模型后加入双时间尺度持续性校准，再做分类增强。</a:t>
          </a:r>
          <a:endParaRPr lang="zh-cn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8E6DD7C-B953-4119-9F64-9914E467ECBF}" type="sibTrans" cxnId="{E476EEBC-7C9F-4E07-BD58-1044B9769B64}">
      <dgm:prSet phldrT="03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03</a:t>
          </a:r>
        </a:p>
      </dgm:t>
    </dgm:pt>
    <dgm:pt modelId="{DAEF1C7D-B0C5-46FA-BED3-8A54E918D3E0}" type="parTrans" cxnId="{E476EEBC-7C9F-4E07-BD58-1044B9769B64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DC13AB6D-DEA2-4CBB-AC69-1EF1A6AD1512}">
      <dgm:prSet/>
      <dgm:spPr/>
      <dgm:t>
        <a:bodyPr rtlCol="0"/>
        <a:lstStyle/>
        <a:p>
          <a:pPr rtl="0">
            <a:defRPr cap="all"/>
          </a:pPr>
          <a:r>
            <a:rPr lang="zh-CN" altLang="en-US" b="0" i="0" dirty="0"/>
            <a:t>输入：基座风险分数 </a:t>
          </a:r>
          <a:r>
            <a:rPr lang="en-US" altLang="zh-CN" b="0" i="0" dirty="0"/>
            <a:t>+ </a:t>
          </a:r>
          <a:r>
            <a:rPr lang="zh-CN" altLang="en-US" b="0" i="0" dirty="0"/>
            <a:t>文本表征 </a:t>
          </a:r>
          <a:r>
            <a:rPr lang="en-US" altLang="zh-CN" b="0" i="0" dirty="0"/>
            <a:t>+ </a:t>
          </a:r>
          <a:r>
            <a:rPr lang="zh-CN" altLang="en-US" b="0" i="0" dirty="0"/>
            <a:t>短窗</a:t>
          </a:r>
          <a:r>
            <a:rPr lang="en-US" altLang="zh-CN" b="0" i="0" dirty="0"/>
            <a:t>/</a:t>
          </a:r>
          <a:r>
            <a:rPr lang="zh-CN" altLang="en-US" b="0" i="0" dirty="0"/>
            <a:t>长窗持续性特征。</a:t>
          </a:r>
          <a:endParaRPr lang="zh-cn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2C752582-D9FF-4E04-A92F-827DB4BB5C48}" type="parTrans" cxnId="{4B888393-351D-4489-90C9-5A68061AB236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C64CC83-643C-4E12-8F97-BC19DC031190}" type="sibTrans" cxnId="{4B888393-351D-4489-90C9-5A68061AB236}">
      <dgm:prSet phldrT="01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</a:p>
      </dgm:t>
    </dgm:pt>
    <dgm:pt modelId="{53742231-981F-480A-940F-203EC2F7423F}">
      <dgm:prSet/>
      <dgm:spPr/>
      <dgm:t>
        <a:bodyPr rtlCol="0"/>
        <a:lstStyle/>
        <a:p>
          <a:pPr rtl="0">
            <a:defRPr cap="all"/>
          </a:pPr>
          <a:r>
            <a:rPr lang="zh-CN" altLang="en-US" b="0" i="0" dirty="0"/>
            <a:t>输出：识别分数、风险类别、突发</a:t>
          </a:r>
          <a:r>
            <a:rPr lang="en-US" altLang="zh-CN" b="0" i="0" dirty="0"/>
            <a:t>/</a:t>
          </a:r>
          <a:r>
            <a:rPr lang="zh-CN" altLang="en-US" b="0" i="0" dirty="0"/>
            <a:t>持续属性。</a:t>
          </a:r>
          <a:endParaRPr lang="zh-cn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2FC75195-FBA1-43DE-85DD-40B4B3A2F1F3}" type="parTrans" cxnId="{F226B1C2-5D99-403A-8240-EAD6BD4D8534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EF449C32-A7AE-4099-9E9B-9E2F736A89CE}" type="sibTrans" cxnId="{F226B1C2-5D99-403A-8240-EAD6BD4D8534}">
      <dgm:prSet phldrT="02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</a:p>
      </dgm:t>
    </dgm:pt>
    <dgm:pt modelId="{9EF41CC5-EF3B-4A6D-8229-3F1333EADFB3}">
      <dgm:prSet/>
      <dgm:spPr/>
      <dgm:t>
        <a:bodyPr rtlCol="0"/>
        <a:lstStyle/>
        <a:p>
          <a:pPr rtl="0">
            <a:defRPr cap="all"/>
          </a:pPr>
          <a:r>
            <a:rPr lang="zh-CN" altLang="en-US" dirty="0"/>
            <a:t>预期效果：</a:t>
          </a:r>
          <a:r>
            <a:rPr lang="en-US" dirty="0"/>
            <a:t>False Alarm Rate</a:t>
          </a:r>
          <a:r>
            <a:rPr lang="zh-CN" altLang="en-US" dirty="0"/>
            <a:t>下降，</a:t>
          </a:r>
          <a:r>
            <a:rPr lang="en-US" dirty="0"/>
            <a:t>Recall</a:t>
          </a:r>
          <a:r>
            <a:rPr lang="zh-CN" altLang="en-US" dirty="0"/>
            <a:t>基本持平，分类</a:t>
          </a:r>
          <a:r>
            <a:rPr lang="en-US" dirty="0"/>
            <a:t>Macro-F1</a:t>
          </a:r>
          <a:r>
            <a:rPr lang="zh-CN" altLang="en-US" dirty="0"/>
            <a:t>提升。</a:t>
          </a:r>
          <a:endParaRPr lang="zh-cn" dirty="0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DAEF1C7D-B0C5-46FA-BED3-8A54E918D3E0}" type="parTrans" cxnId="{E476EEBC-7C9F-4E07-BD58-1044B9769B64}">
      <dgm:prSet/>
      <dgm:spPr/>
      <dgm:t>
        <a:bodyPr rtlCol="0"/>
        <a:lstStyle/>
        <a:p>
          <a:pPr rtl="0"/>
          <a:endParaRPr lang="en-US">
            <a:latin typeface="新宋体" panose="02010609030101010101" pitchFamily="49" charset="-122"/>
            <a:ea typeface="新宋体" panose="02010609030101010101" pitchFamily="49" charset="-122"/>
          </a:endParaRPr>
        </a:p>
      </dgm:t>
    </dgm:pt>
    <dgm:pt modelId="{98E6DD7C-B953-4119-9F64-9914E467ECBF}" type="sibTrans" cxnId="{E476EEBC-7C9F-4E07-BD58-1044B9769B64}">
      <dgm:prSet phldrT="03" phldr="0"/>
      <dgm:spPr/>
      <dgm:t>
        <a:bodyPr rtlCol="0"/>
        <a:lstStyle/>
        <a:p>
          <a:pPr rtl="0"/>
          <a:r>
            <a:rPr lang="zh-cn">
              <a:latin typeface="新宋体" panose="02010609030101010101" pitchFamily="49" charset="-122"/>
              <a:ea typeface="新宋体" panose="02010609030101010101" pitchFamily="49" charset="-122"/>
            </a:rPr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08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2600" b="0" i="0" kern="1200"/>
            <a:t>面向连续语料流，任务目标是“识别可疑文本并分类风险类型”。</a:t>
          </a:r>
          <a:endParaRPr lang="zh-cn" sz="26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808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2600" b="0" i="0" kern="1200" dirty="0"/>
            <a:t>现有方法多依赖单条文本语义，容易把热点讨论误判为高风险。</a:t>
          </a:r>
          <a:endParaRPr lang="zh-cn" sz="26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2600" b="0" i="0" kern="1200" dirty="0"/>
            <a:t>结果是</a:t>
          </a:r>
          <a:r>
            <a:rPr lang="zh-CN" altLang="en-US" sz="2600" b="0" i="0" u="sng" kern="1200" dirty="0"/>
            <a:t>误报高</a:t>
          </a:r>
          <a:r>
            <a:rPr lang="zh-CN" altLang="en-US" sz="2600" b="0" i="0" kern="1200" dirty="0"/>
            <a:t>、分类不稳，审核成本上升。</a:t>
          </a:r>
          <a:endParaRPr lang="zh-cn" sz="26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7076898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03</a:t>
          </a:r>
        </a:p>
      </dsp:txBody>
      <dsp:txXfrm>
        <a:off x="7076898" y="0"/>
        <a:ext cx="3275967" cy="14859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08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2500" b="0" i="0" kern="1200" dirty="0"/>
            <a:t>如何区分“短期突发噪声”与“持续性犯罪倾向表达”。</a:t>
          </a:r>
          <a:endParaRPr lang="zh-cn" sz="25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808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2500" b="0" i="0" kern="1200" dirty="0"/>
            <a:t>如何在不牺牲召回的前提下，降低误报并提升分类稳定性。</a:t>
          </a:r>
          <a:endParaRPr lang="zh-cn" sz="25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2500" b="0" i="0" kern="1200" dirty="0"/>
            <a:t>本研究聚焦：在基座文本模型后加入双时间尺度持续性校准，再做分类增强。</a:t>
          </a:r>
          <a:endParaRPr lang="zh-cn" sz="25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7076898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03</a:t>
          </a:r>
        </a:p>
      </dsp:txBody>
      <dsp:txXfrm>
        <a:off x="7076898" y="0"/>
        <a:ext cx="3275967" cy="14859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08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2500" b="0" i="0" kern="1200" dirty="0"/>
            <a:t>输入：基座风险分数 </a:t>
          </a:r>
          <a:r>
            <a:rPr lang="en-US" altLang="zh-CN" sz="2500" b="0" i="0" kern="1200" dirty="0"/>
            <a:t>+ </a:t>
          </a:r>
          <a:r>
            <a:rPr lang="zh-CN" altLang="en-US" sz="2500" b="0" i="0" kern="1200" dirty="0"/>
            <a:t>文本表征 </a:t>
          </a:r>
          <a:r>
            <a:rPr lang="en-US" altLang="zh-CN" sz="2500" b="0" i="0" kern="1200" dirty="0"/>
            <a:t>+ </a:t>
          </a:r>
          <a:r>
            <a:rPr lang="zh-CN" altLang="en-US" sz="2500" b="0" i="0" kern="1200" dirty="0"/>
            <a:t>短窗</a:t>
          </a:r>
          <a:r>
            <a:rPr lang="en-US" altLang="zh-CN" sz="2500" b="0" i="0" kern="1200" dirty="0"/>
            <a:t>/</a:t>
          </a:r>
          <a:r>
            <a:rPr lang="zh-CN" altLang="en-US" sz="2500" b="0" i="0" kern="1200" dirty="0"/>
            <a:t>长窗持续性特征。</a:t>
          </a:r>
          <a:endParaRPr lang="zh-cn" sz="25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808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01</a:t>
          </a:r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2500" b="0" i="0" kern="1200" dirty="0"/>
            <a:t>输出：识别分数、风险类别、突发</a:t>
          </a:r>
          <a:r>
            <a:rPr lang="en-US" altLang="zh-CN" sz="2500" b="0" i="0" kern="1200" dirty="0"/>
            <a:t>/</a:t>
          </a:r>
          <a:r>
            <a:rPr lang="zh-CN" altLang="en-US" sz="2500" b="0" i="0" kern="1200" dirty="0"/>
            <a:t>持续属性。</a:t>
          </a:r>
          <a:endParaRPr lang="zh-cn" sz="25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CN" altLang="en-US" sz="2500" kern="1200" dirty="0"/>
            <a:t>预期效果：</a:t>
          </a:r>
          <a:r>
            <a:rPr lang="en-US" sz="2500" kern="1200" dirty="0"/>
            <a:t>False Alarm Rate</a:t>
          </a:r>
          <a:r>
            <a:rPr lang="zh-CN" altLang="en-US" sz="2500" kern="1200" dirty="0"/>
            <a:t>下降，</a:t>
          </a:r>
          <a:r>
            <a:rPr lang="en-US" sz="2500" kern="1200" dirty="0"/>
            <a:t>Recall</a:t>
          </a:r>
          <a:r>
            <a:rPr lang="zh-CN" altLang="en-US" sz="2500" kern="1200" dirty="0"/>
            <a:t>基本持平，分类</a:t>
          </a:r>
          <a:r>
            <a:rPr lang="en-US" sz="2500" kern="1200" dirty="0"/>
            <a:t>Macro-F1</a:t>
          </a:r>
          <a:r>
            <a:rPr lang="zh-CN" altLang="en-US" sz="2500" kern="1200" dirty="0"/>
            <a:t>提升。</a:t>
          </a:r>
          <a:endParaRPr lang="zh-cn" sz="2500" kern="1200" dirty="0">
            <a:latin typeface="新宋体" panose="02010609030101010101" pitchFamily="49" charset="-122"/>
            <a:ea typeface="新宋体" panose="02010609030101010101" pitchFamily="49" charset="-122"/>
          </a:endParaRPr>
        </a:p>
      </dsp:txBody>
      <dsp:txXfrm>
        <a:off x="7076898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6600" kern="1200">
              <a:latin typeface="新宋体" panose="02010609030101010101" pitchFamily="49" charset="-122"/>
              <a:ea typeface="新宋体" panose="02010609030101010101" pitchFamily="49" charset="-122"/>
            </a:rPr>
            <a:t>03</a:t>
          </a:r>
        </a:p>
      </dsp:txBody>
      <dsp:txXfrm>
        <a:off x="7076898" y="0"/>
        <a:ext cx="3275967" cy="148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 rtlCol="0"/>
            <a:lstStyle/>
            <a:p>
              <a:pPr rtl="0"/>
              <a:r>
                <a:t>01</a:t>
              </a:r>
            </a:p>
          </dgm:t>
        </dgm:pt>
        <dgm:pt modelId="201" type="sibTrans" cxnId="5">
          <dgm:prSet phldrT="2"/>
          <dgm:t>
            <a:bodyPr rtlCol="0"/>
            <a:lstStyle/>
            <a:p>
              <a:pPr rtl="0"/>
              <a:r>
                <a:t>02</a:t>
              </a:r>
            </a:p>
          </dgm:t>
        </dgm:pt>
        <dgm:pt modelId="301" type="sibTrans" cxnId="6">
          <dgm:prSet phldrT="3"/>
          <dgm:t>
            <a:bodyPr rtlCol="0"/>
            <a:lstStyle/>
            <a:p>
              <a:pPr rtl="0"/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 rtlCol="0"/>
            <a:lstStyle/>
            <a:p>
              <a:pPr rtl="0"/>
              <a:r>
                <a:t>01</a:t>
              </a:r>
            </a:p>
          </dgm:t>
        </dgm:pt>
        <dgm:pt modelId="201" type="sibTrans" cxnId="5">
          <dgm:prSet phldrT="2"/>
          <dgm:t>
            <a:bodyPr rtlCol="0"/>
            <a:lstStyle/>
            <a:p>
              <a:pPr rtl="0"/>
              <a:r>
                <a:t>02</a:t>
              </a:r>
            </a:p>
          </dgm:t>
        </dgm:pt>
        <dgm:pt modelId="301" type="sibTrans" cxnId="6">
          <dgm:prSet phldrT="3"/>
          <dgm:t>
            <a:bodyPr rtlCol="0"/>
            <a:lstStyle/>
            <a:p>
              <a:pPr rtl="0"/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 rtlCol="0"/>
            <a:lstStyle/>
            <a:p>
              <a:pPr rtl="0"/>
              <a:r>
                <a:t>01</a:t>
              </a:r>
            </a:p>
          </dgm:t>
        </dgm:pt>
        <dgm:pt modelId="201" type="sibTrans" cxnId="5">
          <dgm:prSet phldrT="2"/>
          <dgm:t>
            <a:bodyPr rtlCol="0"/>
            <a:lstStyle/>
            <a:p>
              <a:pPr rtl="0"/>
              <a:r>
                <a:t>02</a:t>
              </a:r>
            </a:p>
          </dgm:t>
        </dgm:pt>
        <dgm:pt modelId="301" type="sibTrans" cxnId="6">
          <dgm:prSet phldrT="3"/>
          <dgm:t>
            <a:bodyPr rtlCol="0"/>
            <a:lstStyle/>
            <a:p>
              <a:pPr rtl="0"/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0098C1-0776-4557-9D46-1B787E688456}" type="datetime1">
              <a:rPr lang="zh-CN" altLang="en-US" smtClean="0"/>
              <a:t>2026/3/30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FF446B9-0BA7-440C-9491-EFEE44B7DCB7}" type="datetime1">
              <a:rPr lang="zh-CN" altLang="en-US" smtClean="0"/>
              <a:t>2026/3/30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/>
              <a:t>单击此处编辑母版文本样式</a:t>
            </a:r>
            <a:endParaRPr lang="en-US"/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仅做单条文本判别，容易受热点事件、情绪爆发、关键词共振影响，误报偏高。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犯罪倾向往往隐式表达、低频出现、跨时间重复，单次出现不一定可判定。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3FF446B9-0BA7-440C-9491-EFEE44B7DCB7}" type="datetime1">
              <a:rPr lang="zh-CN" altLang="en-US" smtClean="0"/>
              <a:t>2026/3/30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E86D5CD-F53C-40AA-8F25-6C53AFF44E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66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场景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：基座只打分，但有原始行为特征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可加轻量编码器得到 </a:t>
                </a:r>
                <a14:m>
                  <m:oMath xmlns:m="http://schemas.openxmlformats.org/officeDocument/2006/math">
                    <m:r>
                      <a:rPr lang="zh-CN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𝑧</m:t>
                    </m:r>
                  </m:oMath>
                </a14:m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，实现“识别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+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分类”。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场景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：基座可导出中间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embedding</a:t>
                </a:r>
                <a:b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直接接插件分类头，效果和稳定性最好。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插件可以包含分类头，只要能得到特征，就可以训练分类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场景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：基座只打分，但有原始行为特征</a:t>
                </a:r>
                <a:b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可加轻量编码器得到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𝑧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，实现“识别 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+ 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分类”。</a:t>
                </a: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场景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：基座可导出中间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embedding</a:t>
                </a:r>
                <a:b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直接接插件分类头，效果和稳定性最好。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插件可以包含分类头，只要能得到特征，就可以训练分类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3FF446B9-0BA7-440C-9491-EFEE44B7DCB7}" type="datetime1">
              <a:rPr lang="zh-CN" altLang="en-US" smtClean="0"/>
              <a:t>2026/3/30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E86D5CD-F53C-40AA-8F25-6C53AFF44E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180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8E8BE3-72DE-4BA9-940E-B3214E2A4FBC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761884-1233-44DE-95EA-687917CD0720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DDD9908-788A-4C9F-9B82-38760DCE99A2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8F8C3A-E456-4019-B9D3-D27A657A074F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图片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5907AA-E66F-456D-8ABA-1CC838498840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C15656-9C52-4530-B9B0-471CBD4A032C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3893B8-6395-4039-AAC4-F8E54DB39C70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1F0827-5F6F-49F9-9E39-E700438688FE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4D902FE-1817-4BA0-AB93-2732E2F941ED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​​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A75C24-54DF-4A37-B566-5D4504915616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DB8EFA-D326-482A-835B-35244CC8D335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题注的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文本占位符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4DE457-3CDB-46E6-BCC2-0DB87A7AB97D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cn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5E2E9F-6F2A-4603-A42F-23C3B9EC2542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文本占位符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9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2" name="文本占位符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AD336-3C25-4874-9EA7-D9A8F29C3DE6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图片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图片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标题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文本占位符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0" name="图片占位符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文本占位符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2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3" name="图片占位符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文本占位符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6" name="图片占位符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文本占位符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85ADDF4-C7DF-4425-A02C-99D8158E8998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E115FF-7F57-454B-BC07-3D5B5B3B2E36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C76A30-68C3-4742-871E-C4BFB5BF037D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zh-cn"/>
              <a:t>单击此处编辑母版文本样式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fld id="{B4EFF9AB-85BE-4B1F-BA1B-A157C8C43628}" type="datetime1">
              <a:rPr lang="zh-CN" altLang="en-US" smtClean="0"/>
              <a:t>2026/3/30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endParaRPr 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新宋体" panose="02010609030101010101" pitchFamily="49" charset="-122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新宋体" panose="02010609030101010101" pitchFamily="49" charset="-122"/>
          <a:ea typeface="新宋体" panose="02010609030101010101" pitchFamily="49" charset="-122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6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8EBA9-D84A-DEF3-01E6-686BB21D1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一张显示了杯子、咖啡、食物和饮料的图片&#10;&#10;说明自动生成">
            <a:extLst>
              <a:ext uri="{FF2B5EF4-FFF2-40B4-BE49-F238E27FC236}">
                <a16:creationId xmlns:a16="http://schemas.microsoft.com/office/drawing/2014/main" id="{CA7332E3-CB3C-5ACD-A053-C4F8665829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0B005A9-95A7-7505-3D5C-D6A3A99CC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 rtlCol="0">
            <a:normAutofit/>
          </a:bodyPr>
          <a:lstStyle/>
          <a:p>
            <a:r>
              <a:rPr lang="zh-CN" altLang="en-US" b="1" dirty="0">
                <a:effectLst/>
              </a:rPr>
              <a:t>语料犯罪倾向识别的现实挑战</a:t>
            </a:r>
            <a:endParaRPr lang="zh-cn" b="1" dirty="0"/>
          </a:p>
        </p:txBody>
      </p:sp>
      <p:graphicFrame>
        <p:nvGraphicFramePr>
          <p:cNvPr id="4" name="内容占位符 2">
            <a:extLst>
              <a:ext uri="{FF2B5EF4-FFF2-40B4-BE49-F238E27FC236}">
                <a16:creationId xmlns:a16="http://schemas.microsoft.com/office/drawing/2014/main" id="{F6DC4EC5-9E20-17A8-9D0B-469A0DF3A3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8883022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3731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一张显示了杯子、咖啡、食物和饮料的图片&#10;&#10;说明自动生成">
            <a:extLst>
              <a:ext uri="{FF2B5EF4-FFF2-40B4-BE49-F238E27FC236}">
                <a16:creationId xmlns:a16="http://schemas.microsoft.com/office/drawing/2014/main" id="{A987707D-3170-752C-C55C-EFD6B9C411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b="1" dirty="0"/>
              <a:t>Key Issue</a:t>
            </a:r>
            <a:endParaRPr lang="zh-cn" b="1" dirty="0"/>
          </a:p>
        </p:txBody>
      </p:sp>
      <p:graphicFrame>
        <p:nvGraphicFramePr>
          <p:cNvPr id="4" name="内容占位符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355416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9B73-23D3-5DED-C499-951F5E927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一张显示了杯子、咖啡、食物和饮料的图片&#10;&#10;说明自动生成">
            <a:extLst>
              <a:ext uri="{FF2B5EF4-FFF2-40B4-BE49-F238E27FC236}">
                <a16:creationId xmlns:a16="http://schemas.microsoft.com/office/drawing/2014/main" id="{FF02551B-A810-12D1-9A68-2A1AC7995A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D4202F6-2516-7E7B-6FDF-87ED92691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 rtlCol="0">
            <a:normAutofit/>
          </a:bodyPr>
          <a:lstStyle/>
          <a:p>
            <a:r>
              <a:rPr lang="zh-CN" altLang="en-US" b="1" dirty="0">
                <a:effectLst/>
              </a:rPr>
              <a:t>方案与预期</a:t>
            </a:r>
            <a:endParaRPr lang="zh-cn" dirty="0"/>
          </a:p>
        </p:txBody>
      </p:sp>
      <p:graphicFrame>
        <p:nvGraphicFramePr>
          <p:cNvPr id="4" name="内容占位符 2">
            <a:extLst>
              <a:ext uri="{FF2B5EF4-FFF2-40B4-BE49-F238E27FC236}">
                <a16:creationId xmlns:a16="http://schemas.microsoft.com/office/drawing/2014/main" id="{8B6B1C44-DFCD-DD50-1CFE-DA3E8C0C5F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2686065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375912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56_TF12214701.potx" id="{11CCF850-A106-4C83-9778-04C2F532D32F}" vid="{0B8A0E20-82B4-435B-92AB-957BEAB0242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{4ADDF716-856B-493B-BBB6-8FF3CBA417A3}TFe887d8cf-77a9-48cd-9a74-d8d08097a61c6c5a5c18_win32-5d5fec16f39d</Template>
  <TotalTime>43</TotalTime>
  <Words>274</Words>
  <Application>Microsoft Office PowerPoint</Application>
  <PresentationFormat>宽屏</PresentationFormat>
  <Paragraphs>30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新宋体</vt:lpstr>
      <vt:lpstr>Calibri</vt:lpstr>
      <vt:lpstr>Wingdings 2</vt:lpstr>
      <vt:lpstr>SlateVTI</vt:lpstr>
      <vt:lpstr>语料犯罪倾向识别的现实挑战</vt:lpstr>
      <vt:lpstr>Key Issue</vt:lpstr>
      <vt:lpstr>方案与预期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凯恩 彭</dc:creator>
  <cp:lastModifiedBy>凯恩 彭</cp:lastModifiedBy>
  <cp:revision>2</cp:revision>
  <dcterms:created xsi:type="dcterms:W3CDTF">2026-03-30T13:23:56Z</dcterms:created>
  <dcterms:modified xsi:type="dcterms:W3CDTF">2026-03-30T15:29:58Z</dcterms:modified>
</cp:coreProperties>
</file>